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Noto Serif Bengali SemiCondensed" charset="1" panose="00000000000000000000"/>
      <p:regular r:id="rId19"/>
    </p:embeddedFont>
    <p:embeddedFont>
      <p:font typeface="Sloop Script Pro" charset="1" panose="00000000000000090000"/>
      <p:regular r:id="rId20"/>
    </p:embeddedFont>
    <p:embeddedFont>
      <p:font typeface="Leckerli One" charset="1" panose="02000503000000020003"/>
      <p:regular r:id="rId21"/>
    </p:embeddedFont>
    <p:embeddedFont>
      <p:font typeface="Noto Serif Bengali SemiCondensed Bold" charset="1" panose="00000000000000000000"/>
      <p:regular r:id="rId22"/>
    </p:embeddedFont>
    <p:embeddedFont>
      <p:font typeface="Noto Serif Bengali SemiCondensed Semi-Bold" charset="1" panose="00000000000000000000"/>
      <p:regular r:id="rId23"/>
    </p:embeddedFont>
    <p:embeddedFont>
      <p:font typeface="Special Elite" charset="1" panose="020005060000000200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en.wikipedia.org/wiki/Bharat_Electronics"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 Id="rId5"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222" r="0" b="-4222"/>
            </a:stretch>
          </a:blipFill>
        </p:spPr>
      </p:sp>
      <p:sp>
        <p:nvSpPr>
          <p:cNvPr name="TextBox 3" id="3"/>
          <p:cNvSpPr txBox="true"/>
          <p:nvPr/>
        </p:nvSpPr>
        <p:spPr>
          <a:xfrm rot="0">
            <a:off x="1555761" y="3776738"/>
            <a:ext cx="15885197" cy="3168649"/>
          </a:xfrm>
          <a:prstGeom prst="rect">
            <a:avLst/>
          </a:prstGeom>
        </p:spPr>
        <p:txBody>
          <a:bodyPr anchor="t" rtlCol="false" tIns="0" lIns="0" bIns="0" rIns="0">
            <a:spAutoFit/>
          </a:bodyPr>
          <a:lstStyle/>
          <a:p>
            <a:pPr algn="r">
              <a:lnSpc>
                <a:spcPts val="25900"/>
              </a:lnSpc>
            </a:pPr>
            <a:r>
              <a:rPr lang="en-US" sz="18500" spc="-388">
                <a:solidFill>
                  <a:srgbClr val="EBC118"/>
                </a:solidFill>
                <a:latin typeface="Noto Serif Bengali SemiCondensed"/>
                <a:ea typeface="Noto Serif Bengali SemiCondensed"/>
                <a:cs typeface="Noto Serif Bengali SemiCondensed"/>
                <a:sym typeface="Noto Serif Bengali SemiCondensed"/>
              </a:rPr>
              <a:t>ikkamagaluru</a:t>
            </a:r>
          </a:p>
        </p:txBody>
      </p:sp>
      <p:grpSp>
        <p:nvGrpSpPr>
          <p:cNvPr name="Group 4" id="4"/>
          <p:cNvGrpSpPr/>
          <p:nvPr/>
        </p:nvGrpSpPr>
        <p:grpSpPr>
          <a:xfrm rot="0">
            <a:off x="-281672" y="-2057400"/>
            <a:ext cx="18765846" cy="3086100"/>
            <a:chOff x="0" y="0"/>
            <a:chExt cx="4942445" cy="812800"/>
          </a:xfrm>
        </p:grpSpPr>
        <p:sp>
          <p:nvSpPr>
            <p:cNvPr name="Freeform 5" id="5"/>
            <p:cNvSpPr/>
            <p:nvPr/>
          </p:nvSpPr>
          <p:spPr>
            <a:xfrm flipH="false" flipV="false" rot="0">
              <a:off x="0" y="0"/>
              <a:ext cx="4942445" cy="812800"/>
            </a:xfrm>
            <a:custGeom>
              <a:avLst/>
              <a:gdLst/>
              <a:ahLst/>
              <a:cxnLst/>
              <a:rect r="r" b="b" t="t" l="l"/>
              <a:pathLst>
                <a:path h="812800" w="4942445">
                  <a:moveTo>
                    <a:pt x="0" y="0"/>
                  </a:moveTo>
                  <a:lnTo>
                    <a:pt x="4942445" y="0"/>
                  </a:lnTo>
                  <a:lnTo>
                    <a:pt x="4942445" y="812800"/>
                  </a:lnTo>
                  <a:lnTo>
                    <a:pt x="0" y="812800"/>
                  </a:lnTo>
                  <a:close/>
                </a:path>
              </a:pathLst>
            </a:custGeom>
            <a:solidFill>
              <a:srgbClr val="001A15"/>
            </a:solidFill>
          </p:spPr>
        </p:sp>
        <p:sp>
          <p:nvSpPr>
            <p:cNvPr name="TextBox 6" id="6"/>
            <p:cNvSpPr txBox="true"/>
            <p:nvPr/>
          </p:nvSpPr>
          <p:spPr>
            <a:xfrm>
              <a:off x="0" y="-38100"/>
              <a:ext cx="4942445" cy="850900"/>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238923" y="9258300"/>
            <a:ext cx="18765846" cy="3086100"/>
            <a:chOff x="0" y="0"/>
            <a:chExt cx="4942445" cy="812800"/>
          </a:xfrm>
        </p:grpSpPr>
        <p:sp>
          <p:nvSpPr>
            <p:cNvPr name="Freeform 8" id="8"/>
            <p:cNvSpPr/>
            <p:nvPr/>
          </p:nvSpPr>
          <p:spPr>
            <a:xfrm flipH="false" flipV="false" rot="0">
              <a:off x="0" y="0"/>
              <a:ext cx="4942445" cy="812800"/>
            </a:xfrm>
            <a:custGeom>
              <a:avLst/>
              <a:gdLst/>
              <a:ahLst/>
              <a:cxnLst/>
              <a:rect r="r" b="b" t="t" l="l"/>
              <a:pathLst>
                <a:path h="812800" w="4942445">
                  <a:moveTo>
                    <a:pt x="0" y="0"/>
                  </a:moveTo>
                  <a:lnTo>
                    <a:pt x="4942445" y="0"/>
                  </a:lnTo>
                  <a:lnTo>
                    <a:pt x="4942445" y="812800"/>
                  </a:lnTo>
                  <a:lnTo>
                    <a:pt x="0" y="812800"/>
                  </a:lnTo>
                  <a:close/>
                </a:path>
              </a:pathLst>
            </a:custGeom>
            <a:solidFill>
              <a:srgbClr val="001A15"/>
            </a:solidFill>
          </p:spPr>
        </p:sp>
        <p:sp>
          <p:nvSpPr>
            <p:cNvPr name="TextBox 9" id="9"/>
            <p:cNvSpPr txBox="true"/>
            <p:nvPr/>
          </p:nvSpPr>
          <p:spPr>
            <a:xfrm>
              <a:off x="0" y="-38100"/>
              <a:ext cx="4942445" cy="8509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433347" y="2296535"/>
            <a:ext cx="8559890" cy="5438359"/>
          </a:xfrm>
          <a:prstGeom prst="rect">
            <a:avLst/>
          </a:prstGeom>
        </p:spPr>
        <p:txBody>
          <a:bodyPr anchor="t" rtlCol="false" tIns="0" lIns="0" bIns="0" rIns="0">
            <a:spAutoFit/>
          </a:bodyPr>
          <a:lstStyle/>
          <a:p>
            <a:pPr algn="l">
              <a:lnSpc>
                <a:spcPts val="44358"/>
              </a:lnSpc>
            </a:pPr>
            <a:r>
              <a:rPr lang="en-US" sz="31684" spc="-665">
                <a:solidFill>
                  <a:srgbClr val="EBC118"/>
                </a:solidFill>
                <a:latin typeface="Sloop Script Pro"/>
                <a:ea typeface="Sloop Script Pro"/>
                <a:cs typeface="Sloop Script Pro"/>
                <a:sym typeface="Sloop Script Pro"/>
              </a:rPr>
              <a:t>C</a:t>
            </a:r>
          </a:p>
        </p:txBody>
      </p:sp>
      <p:sp>
        <p:nvSpPr>
          <p:cNvPr name="AutoShape 11" id="11"/>
          <p:cNvSpPr/>
          <p:nvPr/>
        </p:nvSpPr>
        <p:spPr>
          <a:xfrm>
            <a:off x="2028510" y="6572316"/>
            <a:ext cx="8517598" cy="0"/>
          </a:xfrm>
          <a:prstGeom prst="line">
            <a:avLst/>
          </a:prstGeom>
          <a:ln cap="flat" w="19050">
            <a:solidFill>
              <a:srgbClr val="EBC118"/>
            </a:solidFill>
            <a:prstDash val="solid"/>
            <a:headEnd type="none" len="sm" w="sm"/>
            <a:tailEnd type="none" len="sm" w="sm"/>
          </a:ln>
        </p:spPr>
      </p:sp>
      <p:sp>
        <p:nvSpPr>
          <p:cNvPr name="TextBox 12" id="12"/>
          <p:cNvSpPr txBox="true"/>
          <p:nvPr/>
        </p:nvSpPr>
        <p:spPr>
          <a:xfrm rot="0">
            <a:off x="7297261" y="3692518"/>
            <a:ext cx="5529817" cy="580763"/>
          </a:xfrm>
          <a:prstGeom prst="rect">
            <a:avLst/>
          </a:prstGeom>
        </p:spPr>
        <p:txBody>
          <a:bodyPr anchor="t" rtlCol="false" tIns="0" lIns="0" bIns="0" rIns="0">
            <a:spAutoFit/>
          </a:bodyPr>
          <a:lstStyle/>
          <a:p>
            <a:pPr algn="ctr">
              <a:lnSpc>
                <a:spcPts val="4739"/>
              </a:lnSpc>
            </a:pPr>
            <a:r>
              <a:rPr lang="en-US" sz="3385" spc="-71">
                <a:solidFill>
                  <a:srgbClr val="EBC118"/>
                </a:solidFill>
                <a:latin typeface="Leckerli One"/>
                <a:ea typeface="Leckerli One"/>
                <a:cs typeface="Leckerli One"/>
                <a:sym typeface="Leckerli One"/>
              </a:rPr>
              <a:t>coffee Land </a:t>
            </a:r>
          </a:p>
        </p:txBody>
      </p:sp>
      <p:sp>
        <p:nvSpPr>
          <p:cNvPr name="TextBox 13" id="13"/>
          <p:cNvSpPr txBox="true"/>
          <p:nvPr/>
        </p:nvSpPr>
        <p:spPr>
          <a:xfrm rot="0">
            <a:off x="726141" y="6935862"/>
            <a:ext cx="7486829" cy="2267556"/>
          </a:xfrm>
          <a:prstGeom prst="rect">
            <a:avLst/>
          </a:prstGeom>
        </p:spPr>
        <p:txBody>
          <a:bodyPr anchor="t" rtlCol="false" tIns="0" lIns="0" bIns="0" rIns="0">
            <a:spAutoFit/>
          </a:bodyPr>
          <a:lstStyle/>
          <a:p>
            <a:pPr algn="l">
              <a:lnSpc>
                <a:spcPts val="4971"/>
              </a:lnSpc>
            </a:pPr>
            <a:r>
              <a:rPr lang="en-US" sz="3551" spc="-74">
                <a:solidFill>
                  <a:srgbClr val="EBC118"/>
                </a:solidFill>
                <a:latin typeface="Noto Serif Bengali SemiCondensed"/>
                <a:ea typeface="Noto Serif Bengali SemiCondensed"/>
                <a:cs typeface="Noto Serif Bengali SemiCondensed"/>
                <a:sym typeface="Noto Serif Bengali SemiCondensed"/>
              </a:rPr>
              <a:t>Presented By:</a:t>
            </a:r>
          </a:p>
          <a:p>
            <a:pPr algn="l">
              <a:lnSpc>
                <a:spcPts val="4411"/>
              </a:lnSpc>
            </a:pPr>
            <a:r>
              <a:rPr lang="en-US" sz="3151" spc="-66">
                <a:solidFill>
                  <a:srgbClr val="EBC118"/>
                </a:solidFill>
                <a:latin typeface="Noto Serif Bengali SemiCondensed"/>
                <a:ea typeface="Noto Serif Bengali SemiCondensed"/>
                <a:cs typeface="Noto Serif Bengali SemiCondensed"/>
                <a:sym typeface="Noto Serif Bengali SemiCondensed"/>
              </a:rPr>
              <a:t>Nikhil S G</a:t>
            </a:r>
          </a:p>
          <a:p>
            <a:pPr algn="l">
              <a:lnSpc>
                <a:spcPts val="4411"/>
              </a:lnSpc>
            </a:pPr>
            <a:r>
              <a:rPr lang="en-US" sz="3151" spc="-66">
                <a:solidFill>
                  <a:srgbClr val="EBC118"/>
                </a:solidFill>
                <a:latin typeface="Noto Serif Bengali SemiCondensed"/>
                <a:ea typeface="Noto Serif Bengali SemiCondensed"/>
                <a:cs typeface="Noto Serif Bengali SemiCondensed"/>
                <a:sym typeface="Noto Serif Bengali SemiCondensed"/>
              </a:rPr>
              <a:t>GAPP at BAE Nalanda</a:t>
            </a:r>
          </a:p>
          <a:p>
            <a:pPr algn="l">
              <a:lnSpc>
                <a:spcPts val="4411"/>
              </a:lnSpc>
            </a:pPr>
            <a:r>
              <a:rPr lang="en-US" sz="3151" spc="-66" u="sng">
                <a:solidFill>
                  <a:srgbClr val="EBC118"/>
                </a:solidFill>
                <a:latin typeface="Noto Serif Bengali SemiCondensed"/>
                <a:ea typeface="Noto Serif Bengali SemiCondensed"/>
                <a:cs typeface="Noto Serif Bengali SemiCondensed"/>
                <a:sym typeface="Noto Serif Bengali SemiCondensed"/>
                <a:hlinkClick r:id="rId3" tooltip="https://en.wikipedia.org/wiki/Bharat_Electronics"/>
              </a:rPr>
              <a:t>Bharat Electronics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144000" y="1028700"/>
            <a:ext cx="9322010" cy="8229600"/>
            <a:chOff x="0" y="0"/>
            <a:chExt cx="3639017" cy="3212575"/>
          </a:xfrm>
        </p:grpSpPr>
        <p:sp>
          <p:nvSpPr>
            <p:cNvPr name="Freeform 3" id="3"/>
            <p:cNvSpPr/>
            <p:nvPr/>
          </p:nvSpPr>
          <p:spPr>
            <a:xfrm flipH="false" flipV="false" rot="0">
              <a:off x="0" y="0"/>
              <a:ext cx="3639017" cy="3212575"/>
            </a:xfrm>
            <a:custGeom>
              <a:avLst/>
              <a:gdLst/>
              <a:ahLst/>
              <a:cxnLst/>
              <a:rect r="r" b="b" t="t" l="l"/>
              <a:pathLst>
                <a:path h="3212575" w="3639017">
                  <a:moveTo>
                    <a:pt x="0" y="0"/>
                  </a:moveTo>
                  <a:lnTo>
                    <a:pt x="3639017" y="0"/>
                  </a:lnTo>
                  <a:lnTo>
                    <a:pt x="3639017" y="3212575"/>
                  </a:lnTo>
                  <a:lnTo>
                    <a:pt x="0" y="3212575"/>
                  </a:lnTo>
                  <a:close/>
                </a:path>
              </a:pathLst>
            </a:custGeom>
            <a:blipFill>
              <a:blip r:embed="rId2">
                <a:alphaModFix amt="75000"/>
              </a:blip>
              <a:stretch>
                <a:fillRect l="0" t="-25516" r="0" b="-25516"/>
              </a:stretch>
            </a:blipFill>
          </p:spPr>
        </p:sp>
      </p:grpSp>
      <p:grpSp>
        <p:nvGrpSpPr>
          <p:cNvPr name="Group 4" id="4"/>
          <p:cNvGrpSpPr/>
          <p:nvPr/>
        </p:nvGrpSpPr>
        <p:grpSpPr>
          <a:xfrm rot="0">
            <a:off x="1028700" y="1028700"/>
            <a:ext cx="6395716" cy="8229600"/>
            <a:chOff x="0" y="0"/>
            <a:chExt cx="2496685" cy="3212575"/>
          </a:xfrm>
        </p:grpSpPr>
        <p:sp>
          <p:nvSpPr>
            <p:cNvPr name="Freeform 5" id="5"/>
            <p:cNvSpPr/>
            <p:nvPr/>
          </p:nvSpPr>
          <p:spPr>
            <a:xfrm flipH="false" flipV="false" rot="0">
              <a:off x="0" y="0"/>
              <a:ext cx="2496685" cy="3212575"/>
            </a:xfrm>
            <a:custGeom>
              <a:avLst/>
              <a:gdLst/>
              <a:ahLst/>
              <a:cxnLst/>
              <a:rect r="r" b="b" t="t" l="l"/>
              <a:pathLst>
                <a:path h="3212575" w="2496685">
                  <a:moveTo>
                    <a:pt x="0" y="0"/>
                  </a:moveTo>
                  <a:lnTo>
                    <a:pt x="2496685" y="0"/>
                  </a:lnTo>
                  <a:lnTo>
                    <a:pt x="2496685" y="3212575"/>
                  </a:lnTo>
                  <a:lnTo>
                    <a:pt x="0" y="3212575"/>
                  </a:lnTo>
                  <a:close/>
                </a:path>
              </a:pathLst>
            </a:custGeom>
            <a:blipFill>
              <a:blip r:embed="rId2">
                <a:alphaModFix amt="75000"/>
              </a:blip>
              <a:stretch>
                <a:fillRect l="0" t="-1810" r="0" b="-1810"/>
              </a:stretch>
            </a:blipFill>
          </p:spPr>
        </p:sp>
      </p:grpSp>
      <p:grpSp>
        <p:nvGrpSpPr>
          <p:cNvPr name="Group 6" id="6"/>
          <p:cNvGrpSpPr/>
          <p:nvPr/>
        </p:nvGrpSpPr>
        <p:grpSpPr>
          <a:xfrm rot="0">
            <a:off x="3471944" y="2638580"/>
            <a:ext cx="12478710" cy="5840963"/>
            <a:chOff x="0" y="0"/>
            <a:chExt cx="3286574" cy="1538361"/>
          </a:xfrm>
        </p:grpSpPr>
        <p:sp>
          <p:nvSpPr>
            <p:cNvPr name="Freeform 7" id="7"/>
            <p:cNvSpPr/>
            <p:nvPr/>
          </p:nvSpPr>
          <p:spPr>
            <a:xfrm flipH="false" flipV="false" rot="0">
              <a:off x="0" y="0"/>
              <a:ext cx="3286574" cy="1538361"/>
            </a:xfrm>
            <a:custGeom>
              <a:avLst/>
              <a:gdLst/>
              <a:ahLst/>
              <a:cxnLst/>
              <a:rect r="r" b="b" t="t" l="l"/>
              <a:pathLst>
                <a:path h="1538361" w="3286574">
                  <a:moveTo>
                    <a:pt x="0" y="0"/>
                  </a:moveTo>
                  <a:lnTo>
                    <a:pt x="3286574" y="0"/>
                  </a:lnTo>
                  <a:lnTo>
                    <a:pt x="3286574" y="1538361"/>
                  </a:lnTo>
                  <a:lnTo>
                    <a:pt x="0" y="1538361"/>
                  </a:lnTo>
                  <a:close/>
                </a:path>
              </a:pathLst>
            </a:custGeom>
            <a:solidFill>
              <a:srgbClr val="000000"/>
            </a:solidFill>
          </p:spPr>
        </p:sp>
        <p:sp>
          <p:nvSpPr>
            <p:cNvPr name="TextBox 8" id="8"/>
            <p:cNvSpPr txBox="true"/>
            <p:nvPr/>
          </p:nvSpPr>
          <p:spPr>
            <a:xfrm>
              <a:off x="0" y="-47625"/>
              <a:ext cx="3286574" cy="1585986"/>
            </a:xfrm>
            <a:prstGeom prst="rect">
              <a:avLst/>
            </a:prstGeom>
          </p:spPr>
          <p:txBody>
            <a:bodyPr anchor="ctr" rtlCol="false" tIns="50800" lIns="50800" bIns="50800" rIns="50800"/>
            <a:lstStyle/>
            <a:p>
              <a:pPr algn="ctr">
                <a:lnSpc>
                  <a:spcPts val="2940"/>
                </a:lnSpc>
              </a:pPr>
            </a:p>
          </p:txBody>
        </p:sp>
      </p:grpSp>
      <p:sp>
        <p:nvSpPr>
          <p:cNvPr name="TextBox 9" id="9"/>
          <p:cNvSpPr txBox="true"/>
          <p:nvPr/>
        </p:nvSpPr>
        <p:spPr>
          <a:xfrm rot="0">
            <a:off x="3343617" y="3117480"/>
            <a:ext cx="12455757" cy="920110"/>
          </a:xfrm>
          <a:prstGeom prst="rect">
            <a:avLst/>
          </a:prstGeom>
        </p:spPr>
        <p:txBody>
          <a:bodyPr anchor="t" rtlCol="false" tIns="0" lIns="0" bIns="0" rIns="0">
            <a:spAutoFit/>
          </a:bodyPr>
          <a:lstStyle/>
          <a:p>
            <a:pPr algn="ctr">
              <a:lnSpc>
                <a:spcPts val="7560"/>
              </a:lnSpc>
            </a:pPr>
            <a:r>
              <a:rPr lang="en-US" b="true" sz="5400" spc="-113">
                <a:solidFill>
                  <a:srgbClr val="EBC118"/>
                </a:solidFill>
                <a:latin typeface="Noto Serif Bengali SemiCondensed Bold"/>
                <a:ea typeface="Noto Serif Bengali SemiCondensed Bold"/>
                <a:cs typeface="Noto Serif Bengali SemiCondensed Bold"/>
                <a:sym typeface="Noto Serif Bengali SemiCondensed Bold"/>
              </a:rPr>
              <a:t>Origin of the Name “Chikkamagaluru”</a:t>
            </a:r>
          </a:p>
        </p:txBody>
      </p:sp>
      <p:sp>
        <p:nvSpPr>
          <p:cNvPr name="TextBox 10" id="10"/>
          <p:cNvSpPr txBox="true"/>
          <p:nvPr/>
        </p:nvSpPr>
        <p:spPr>
          <a:xfrm rot="0">
            <a:off x="4019595" y="4301807"/>
            <a:ext cx="9785410" cy="1616711"/>
          </a:xfrm>
          <a:prstGeom prst="rect">
            <a:avLst/>
          </a:prstGeom>
        </p:spPr>
        <p:txBody>
          <a:bodyPr anchor="t" rtlCol="false" tIns="0" lIns="0" bIns="0" rIns="0">
            <a:spAutoFit/>
          </a:bodyPr>
          <a:lstStyle/>
          <a:p>
            <a:pPr algn="just">
              <a:lnSpc>
                <a:spcPts val="4339"/>
              </a:lnSpc>
            </a:pPr>
            <a:r>
              <a:rPr lang="en-US" sz="3099" spc="-65">
                <a:solidFill>
                  <a:srgbClr val="EBC118"/>
                </a:solidFill>
                <a:latin typeface="Noto Serif Bengali SemiCondensed"/>
                <a:ea typeface="Noto Serif Bengali SemiCondensed"/>
                <a:cs typeface="Noto Serif Bengali SemiCondensed"/>
                <a:sym typeface="Noto Serif Bengali SemiCondensed"/>
              </a:rPr>
              <a:t>The name Chikkamagaluru comes from the Kannada words “Chikka” (ಚಿಕ್ಕ) meaning “younger/smaller” and “Magalu” (ಮಗಳು) meaning “daughter</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1361101"/>
          </a:xfrm>
          <a:custGeom>
            <a:avLst/>
            <a:gdLst/>
            <a:ahLst/>
            <a:cxnLst/>
            <a:rect r="r" b="b" t="t" l="l"/>
            <a:pathLst>
              <a:path h="11361101" w="18288000">
                <a:moveTo>
                  <a:pt x="0" y="0"/>
                </a:moveTo>
                <a:lnTo>
                  <a:pt x="18288000" y="0"/>
                </a:lnTo>
                <a:lnTo>
                  <a:pt x="18288000" y="11361101"/>
                </a:lnTo>
                <a:lnTo>
                  <a:pt x="0" y="11361101"/>
                </a:lnTo>
                <a:lnTo>
                  <a:pt x="0" y="0"/>
                </a:lnTo>
                <a:close/>
              </a:path>
            </a:pathLst>
          </a:custGeom>
          <a:blipFill>
            <a:blip r:embed="rId2"/>
            <a:stretch>
              <a:fillRect l="-814" t="0" r="-814" b="-9061"/>
            </a:stretch>
          </a:blipFill>
        </p:spPr>
      </p:sp>
    </p:spTree>
  </p:cSld>
  <p:clrMapOvr>
    <a:masterClrMapping/>
  </p:clrMapOvr>
  <p:transition spd="med">
    <p:cover dir="ru"/>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77330" y="310122"/>
            <a:ext cx="10429498" cy="9976878"/>
            <a:chOff x="0" y="0"/>
            <a:chExt cx="3458637" cy="3308539"/>
          </a:xfrm>
        </p:grpSpPr>
        <p:sp>
          <p:nvSpPr>
            <p:cNvPr name="Freeform 3" id="3"/>
            <p:cNvSpPr/>
            <p:nvPr/>
          </p:nvSpPr>
          <p:spPr>
            <a:xfrm flipH="false" flipV="false" rot="0">
              <a:off x="0" y="0"/>
              <a:ext cx="3458637" cy="3308539"/>
            </a:xfrm>
            <a:custGeom>
              <a:avLst/>
              <a:gdLst/>
              <a:ahLst/>
              <a:cxnLst/>
              <a:rect r="r" b="b" t="t" l="l"/>
              <a:pathLst>
                <a:path h="3308539" w="3458637">
                  <a:moveTo>
                    <a:pt x="0" y="0"/>
                  </a:moveTo>
                  <a:lnTo>
                    <a:pt x="3458637" y="0"/>
                  </a:lnTo>
                  <a:lnTo>
                    <a:pt x="3458637" y="3308539"/>
                  </a:lnTo>
                  <a:lnTo>
                    <a:pt x="0" y="3308539"/>
                  </a:lnTo>
                  <a:close/>
                </a:path>
              </a:pathLst>
            </a:custGeom>
            <a:blipFill>
              <a:blip r:embed="rId2"/>
              <a:stretch>
                <a:fillRect l="-19571" t="0" r="-19571" b="0"/>
              </a:stretch>
            </a:blipFill>
          </p:spPr>
        </p:sp>
      </p:grpSp>
      <p:grpSp>
        <p:nvGrpSpPr>
          <p:cNvPr name="Group 4" id="4"/>
          <p:cNvGrpSpPr/>
          <p:nvPr/>
        </p:nvGrpSpPr>
        <p:grpSpPr>
          <a:xfrm rot="0">
            <a:off x="10352168" y="1787357"/>
            <a:ext cx="7884649" cy="6392278"/>
            <a:chOff x="0" y="0"/>
            <a:chExt cx="2076615" cy="1683563"/>
          </a:xfrm>
        </p:grpSpPr>
        <p:sp>
          <p:nvSpPr>
            <p:cNvPr name="Freeform 5" id="5"/>
            <p:cNvSpPr/>
            <p:nvPr/>
          </p:nvSpPr>
          <p:spPr>
            <a:xfrm flipH="false" flipV="false" rot="0">
              <a:off x="0" y="0"/>
              <a:ext cx="2076615" cy="1683563"/>
            </a:xfrm>
            <a:custGeom>
              <a:avLst/>
              <a:gdLst/>
              <a:ahLst/>
              <a:cxnLst/>
              <a:rect r="r" b="b" t="t" l="l"/>
              <a:pathLst>
                <a:path h="1683563" w="2076615">
                  <a:moveTo>
                    <a:pt x="0" y="0"/>
                  </a:moveTo>
                  <a:lnTo>
                    <a:pt x="2076615" y="0"/>
                  </a:lnTo>
                  <a:lnTo>
                    <a:pt x="2076615" y="1683563"/>
                  </a:lnTo>
                  <a:lnTo>
                    <a:pt x="0" y="1683563"/>
                  </a:lnTo>
                  <a:close/>
                </a:path>
              </a:pathLst>
            </a:custGeom>
            <a:solidFill>
              <a:srgbClr val="000000"/>
            </a:solidFill>
          </p:spPr>
        </p:sp>
        <p:sp>
          <p:nvSpPr>
            <p:cNvPr name="TextBox 6" id="6"/>
            <p:cNvSpPr txBox="true"/>
            <p:nvPr/>
          </p:nvSpPr>
          <p:spPr>
            <a:xfrm>
              <a:off x="0" y="-66675"/>
              <a:ext cx="2076615" cy="1750238"/>
            </a:xfrm>
            <a:prstGeom prst="rect">
              <a:avLst/>
            </a:prstGeom>
          </p:spPr>
          <p:txBody>
            <a:bodyPr anchor="ctr" rtlCol="false" tIns="50800" lIns="50800" bIns="50800" rIns="50800"/>
            <a:lstStyle/>
            <a:p>
              <a:pPr algn="ctr">
                <a:lnSpc>
                  <a:spcPts val="5039"/>
                </a:lnSpc>
              </a:pPr>
              <a:r>
                <a:rPr lang="en-US" sz="3599" spc="-75">
                  <a:solidFill>
                    <a:srgbClr val="FFFFFF"/>
                  </a:solidFill>
                  <a:latin typeface="Noto Serif Bengali SemiCondensed"/>
                  <a:ea typeface="Noto Serif Bengali SemiCondensed"/>
                  <a:cs typeface="Noto Serif Bengali SemiCondensed"/>
                  <a:sym typeface="Noto Serif Bengali SemiCondensed"/>
                </a:rPr>
                <a:t>The Hoysala dynasty started in the Malenadu region of Karnataka. It is traditionally linked to Angadi in Chikkamagaluru district. The Hoysalas were famous for building beautiful temples with detailed stone carvings. Their history and culture can be seen in the famous temples of Belur and Halebidu</a:t>
              </a:r>
            </a:p>
          </p:txBody>
        </p:sp>
      </p:grpSp>
      <p:sp>
        <p:nvSpPr>
          <p:cNvPr name="TextBox 7" id="7"/>
          <p:cNvSpPr txBox="true"/>
          <p:nvPr/>
        </p:nvSpPr>
        <p:spPr>
          <a:xfrm rot="0">
            <a:off x="9820382" y="487997"/>
            <a:ext cx="7848624" cy="1148080"/>
          </a:xfrm>
          <a:prstGeom prst="rect">
            <a:avLst/>
          </a:prstGeom>
        </p:spPr>
        <p:txBody>
          <a:bodyPr anchor="t" rtlCol="false" tIns="0" lIns="0" bIns="0" rIns="0">
            <a:spAutoFit/>
          </a:bodyPr>
          <a:lstStyle/>
          <a:p>
            <a:pPr algn="r">
              <a:lnSpc>
                <a:spcPts val="8960"/>
              </a:lnSpc>
            </a:pPr>
            <a:r>
              <a:rPr lang="en-US" b="true" sz="8000" spc="-168">
                <a:solidFill>
                  <a:srgbClr val="EBC118"/>
                </a:solidFill>
                <a:latin typeface="Noto Serif Bengali SemiCondensed Semi-Bold"/>
                <a:ea typeface="Noto Serif Bengali SemiCondensed Semi-Bold"/>
                <a:cs typeface="Noto Serif Bengali SemiCondensed Semi-Bold"/>
                <a:sym typeface="Noto Serif Bengali SemiCondensed Semi-Bold"/>
              </a:rPr>
              <a:t>Hoysala Empire</a:t>
            </a:r>
          </a:p>
        </p:txBody>
      </p:sp>
    </p:spTree>
  </p:cSld>
  <p:clrMapOvr>
    <a:masterClrMapping/>
  </p:clrMapOvr>
  <p:transition spd="slow">
    <p:cover dir="u"/>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96856" y="865923"/>
            <a:ext cx="8487855" cy="6160932"/>
            <a:chOff x="0" y="0"/>
            <a:chExt cx="4372253" cy="3173612"/>
          </a:xfrm>
        </p:grpSpPr>
        <p:sp>
          <p:nvSpPr>
            <p:cNvPr name="Freeform 3" id="3"/>
            <p:cNvSpPr/>
            <p:nvPr/>
          </p:nvSpPr>
          <p:spPr>
            <a:xfrm flipH="false" flipV="false" rot="0">
              <a:off x="0" y="0"/>
              <a:ext cx="4372253" cy="3173612"/>
            </a:xfrm>
            <a:custGeom>
              <a:avLst/>
              <a:gdLst/>
              <a:ahLst/>
              <a:cxnLst/>
              <a:rect r="r" b="b" t="t" l="l"/>
              <a:pathLst>
                <a:path h="3173612" w="4372253">
                  <a:moveTo>
                    <a:pt x="0" y="0"/>
                  </a:moveTo>
                  <a:lnTo>
                    <a:pt x="4372253" y="0"/>
                  </a:lnTo>
                  <a:lnTo>
                    <a:pt x="4372253" y="3173612"/>
                  </a:lnTo>
                  <a:lnTo>
                    <a:pt x="0" y="3173612"/>
                  </a:lnTo>
                  <a:close/>
                </a:path>
              </a:pathLst>
            </a:custGeom>
            <a:blipFill>
              <a:blip r:embed="rId2">
                <a:alphaModFix amt="67000"/>
              </a:blip>
              <a:stretch>
                <a:fillRect l="-14808" t="0" r="-14808" b="0"/>
              </a:stretch>
            </a:blipFill>
          </p:spPr>
        </p:sp>
      </p:grpSp>
      <p:sp>
        <p:nvSpPr>
          <p:cNvPr name="TextBox 4" id="4"/>
          <p:cNvSpPr txBox="true"/>
          <p:nvPr/>
        </p:nvSpPr>
        <p:spPr>
          <a:xfrm rot="0">
            <a:off x="10101782" y="694473"/>
            <a:ext cx="6646611" cy="1442401"/>
          </a:xfrm>
          <a:prstGeom prst="rect">
            <a:avLst/>
          </a:prstGeom>
        </p:spPr>
        <p:txBody>
          <a:bodyPr anchor="t" rtlCol="false" tIns="0" lIns="0" bIns="0" rIns="0">
            <a:spAutoFit/>
          </a:bodyPr>
          <a:lstStyle/>
          <a:p>
            <a:pPr algn="l">
              <a:lnSpc>
                <a:spcPts val="11680"/>
              </a:lnSpc>
            </a:pPr>
            <a:r>
              <a:rPr lang="en-US" sz="8343" spc="-175">
                <a:solidFill>
                  <a:srgbClr val="FFFFFF"/>
                </a:solidFill>
                <a:latin typeface="Special Elite"/>
                <a:ea typeface="Special Elite"/>
                <a:cs typeface="Special Elite"/>
                <a:sym typeface="Special Elite"/>
              </a:rPr>
              <a:t>COFFEE</a:t>
            </a:r>
          </a:p>
        </p:txBody>
      </p:sp>
      <p:sp>
        <p:nvSpPr>
          <p:cNvPr name="TextBox 5" id="5"/>
          <p:cNvSpPr txBox="true"/>
          <p:nvPr/>
        </p:nvSpPr>
        <p:spPr>
          <a:xfrm rot="0">
            <a:off x="9144000" y="3088710"/>
            <a:ext cx="8848207" cy="4936902"/>
          </a:xfrm>
          <a:prstGeom prst="rect">
            <a:avLst/>
          </a:prstGeom>
        </p:spPr>
        <p:txBody>
          <a:bodyPr anchor="t" rtlCol="false" tIns="0" lIns="0" bIns="0" rIns="0">
            <a:spAutoFit/>
          </a:bodyPr>
          <a:lstStyle/>
          <a:p>
            <a:pPr algn="just">
              <a:lnSpc>
                <a:spcPts val="4321"/>
              </a:lnSpc>
            </a:pPr>
            <a:r>
              <a:rPr lang="en-US" sz="3086" spc="-64">
                <a:solidFill>
                  <a:srgbClr val="EBC118"/>
                </a:solidFill>
                <a:latin typeface="Noto Serif Bengali SemiCondensed"/>
                <a:ea typeface="Noto Serif Bengali SemiCondensed"/>
                <a:cs typeface="Noto Serif Bengali SemiCondensed"/>
                <a:sym typeface="Noto Serif Bengali SemiCondensed"/>
              </a:rPr>
              <a:t>→ Chikkamagaluru is known as the Coffee Land of Karnataka and has a special place in the history of Indian coffee. </a:t>
            </a:r>
          </a:p>
          <a:p>
            <a:pPr algn="just">
              <a:lnSpc>
                <a:spcPts val="4497"/>
              </a:lnSpc>
            </a:pPr>
            <a:r>
              <a:rPr lang="en-US" sz="3212" spc="-67">
                <a:solidFill>
                  <a:srgbClr val="EBC118"/>
                </a:solidFill>
                <a:latin typeface="Noto Serif Bengali SemiCondensed"/>
                <a:ea typeface="Noto Serif Bengali SemiCondensed"/>
                <a:cs typeface="Noto Serif Bengali SemiCondensed"/>
                <a:sym typeface="Noto Serif Bengali SemiCondensed"/>
              </a:rPr>
              <a:t>→ Baba Budan brought seven coffee beans from Yemen and planted them in the Baba Budan Giri hills around 1670. </a:t>
            </a:r>
          </a:p>
          <a:p>
            <a:pPr algn="just">
              <a:lnSpc>
                <a:spcPts val="4343"/>
              </a:lnSpc>
            </a:pPr>
            <a:r>
              <a:rPr lang="en-US" sz="3102" spc="-65">
                <a:solidFill>
                  <a:srgbClr val="EBC118"/>
                </a:solidFill>
                <a:latin typeface="Noto Serif Bengali SemiCondensed"/>
                <a:ea typeface="Noto Serif Bengali SemiCondensed"/>
                <a:cs typeface="Noto Serif Bengali SemiCondensed"/>
                <a:sym typeface="Noto Serif Bengali SemiCondensed"/>
              </a:rPr>
              <a:t>→ Today, Chikkamagaluru is an important coffee-producing region, growing both Arabica and Robusta varieties</a:t>
            </a:r>
          </a:p>
        </p:txBody>
      </p:sp>
    </p:spTree>
  </p:cSld>
  <p:clrMapOvr>
    <a:masterClrMapping/>
  </p:clrMapOvr>
  <p:transition spd="slow">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26810" y="0"/>
            <a:ext cx="18853537" cy="10287000"/>
            <a:chOff x="0" y="0"/>
            <a:chExt cx="7490831" cy="4087200"/>
          </a:xfrm>
        </p:grpSpPr>
        <p:sp>
          <p:nvSpPr>
            <p:cNvPr name="Freeform 3" id="3"/>
            <p:cNvSpPr/>
            <p:nvPr/>
          </p:nvSpPr>
          <p:spPr>
            <a:xfrm flipH="false" flipV="false" rot="0">
              <a:off x="0" y="0"/>
              <a:ext cx="7490831" cy="4087200"/>
            </a:xfrm>
            <a:custGeom>
              <a:avLst/>
              <a:gdLst/>
              <a:ahLst/>
              <a:cxnLst/>
              <a:rect r="r" b="b" t="t" l="l"/>
              <a:pathLst>
                <a:path h="4087200" w="7490831">
                  <a:moveTo>
                    <a:pt x="0" y="0"/>
                  </a:moveTo>
                  <a:lnTo>
                    <a:pt x="7490831" y="0"/>
                  </a:lnTo>
                  <a:lnTo>
                    <a:pt x="7490831" y="4087200"/>
                  </a:lnTo>
                  <a:lnTo>
                    <a:pt x="0" y="4087200"/>
                  </a:lnTo>
                  <a:close/>
                </a:path>
              </a:pathLst>
            </a:custGeom>
            <a:blipFill>
              <a:blip r:embed="rId2">
                <a:alphaModFix amt="18999"/>
              </a:blip>
              <a:stretch>
                <a:fillRect l="0" t="-10939" r="0" b="-10939"/>
              </a:stretch>
            </a:blipFill>
          </p:spPr>
        </p:sp>
      </p:grpSp>
      <p:sp>
        <p:nvSpPr>
          <p:cNvPr name="TextBox 4" id="4"/>
          <p:cNvSpPr txBox="true"/>
          <p:nvPr/>
        </p:nvSpPr>
        <p:spPr>
          <a:xfrm rot="0">
            <a:off x="9299958" y="2483240"/>
            <a:ext cx="10036909" cy="2188270"/>
          </a:xfrm>
          <a:prstGeom prst="rect">
            <a:avLst/>
          </a:prstGeom>
        </p:spPr>
        <p:txBody>
          <a:bodyPr anchor="t" rtlCol="false" tIns="0" lIns="0" bIns="0" rIns="0">
            <a:spAutoFit/>
          </a:bodyPr>
          <a:lstStyle/>
          <a:p>
            <a:pPr algn="just">
              <a:lnSpc>
                <a:spcPts val="5800"/>
              </a:lnSpc>
            </a:pPr>
            <a:r>
              <a:rPr lang="en-US" sz="4143" spc="-87">
                <a:solidFill>
                  <a:srgbClr val="EBC118"/>
                </a:solidFill>
                <a:latin typeface="Noto Serif Bengali SemiCondensed"/>
                <a:ea typeface="Noto Serif Bengali SemiCondensed"/>
                <a:cs typeface="Noto Serif Bengali SemiCondensed"/>
                <a:sym typeface="Noto Serif Bengali SemiCondensed"/>
              </a:rPr>
              <a:t>Karnataka's highest peak; </a:t>
            </a:r>
          </a:p>
          <a:p>
            <a:pPr algn="just">
              <a:lnSpc>
                <a:spcPts val="5800"/>
              </a:lnSpc>
            </a:pPr>
            <a:r>
              <a:rPr lang="en-US" sz="4143" spc="-87">
                <a:solidFill>
                  <a:srgbClr val="EBC118"/>
                </a:solidFill>
                <a:latin typeface="Noto Serif Bengali SemiCondensed"/>
                <a:ea typeface="Noto Serif Bengali SemiCondensed"/>
                <a:cs typeface="Noto Serif Bengali SemiCondensed"/>
                <a:sym typeface="Noto Serif Bengali SemiCondensed"/>
              </a:rPr>
              <a:t>popular for trekking, </a:t>
            </a:r>
          </a:p>
          <a:p>
            <a:pPr algn="just">
              <a:lnSpc>
                <a:spcPts val="5800"/>
              </a:lnSpc>
            </a:pPr>
            <a:r>
              <a:rPr lang="en-US" sz="4143" spc="-87">
                <a:solidFill>
                  <a:srgbClr val="EBC118"/>
                </a:solidFill>
                <a:latin typeface="Noto Serif Bengali SemiCondensed"/>
                <a:ea typeface="Noto Serif Bengali SemiCondensed"/>
                <a:cs typeface="Noto Serif Bengali SemiCondensed"/>
                <a:sym typeface="Noto Serif Bengali SemiCondensed"/>
              </a:rPr>
              <a:t>mountain views and sunrise/sunset</a:t>
            </a:r>
          </a:p>
        </p:txBody>
      </p:sp>
      <p:sp>
        <p:nvSpPr>
          <p:cNvPr name="Freeform 5" id="5"/>
          <p:cNvSpPr/>
          <p:nvPr/>
        </p:nvSpPr>
        <p:spPr>
          <a:xfrm flipH="false" flipV="false" rot="0">
            <a:off x="0" y="0"/>
            <a:ext cx="8731796" cy="10287000"/>
          </a:xfrm>
          <a:custGeom>
            <a:avLst/>
            <a:gdLst/>
            <a:ahLst/>
            <a:cxnLst/>
            <a:rect r="r" b="b" t="t" l="l"/>
            <a:pathLst>
              <a:path h="10287000" w="8731796">
                <a:moveTo>
                  <a:pt x="0" y="0"/>
                </a:moveTo>
                <a:lnTo>
                  <a:pt x="8731796" y="0"/>
                </a:lnTo>
                <a:lnTo>
                  <a:pt x="8731796" y="10287000"/>
                </a:lnTo>
                <a:lnTo>
                  <a:pt x="0" y="10287000"/>
                </a:lnTo>
                <a:lnTo>
                  <a:pt x="0" y="0"/>
                </a:lnTo>
                <a:close/>
              </a:path>
            </a:pathLst>
          </a:custGeom>
          <a:blipFill>
            <a:blip r:embed="rId3"/>
            <a:stretch>
              <a:fillRect l="-5470" t="-38504" r="-3312" b="0"/>
            </a:stretch>
          </a:blipFill>
        </p:spPr>
      </p:sp>
      <p:sp>
        <p:nvSpPr>
          <p:cNvPr name="TextBox 6" id="6"/>
          <p:cNvSpPr txBox="true"/>
          <p:nvPr/>
        </p:nvSpPr>
        <p:spPr>
          <a:xfrm rot="0">
            <a:off x="-815249" y="557602"/>
            <a:ext cx="9863323" cy="1368424"/>
          </a:xfrm>
          <a:prstGeom prst="rect">
            <a:avLst/>
          </a:prstGeom>
        </p:spPr>
        <p:txBody>
          <a:bodyPr anchor="t" rtlCol="false" tIns="0" lIns="0" bIns="0" rIns="0">
            <a:spAutoFit/>
          </a:bodyPr>
          <a:lstStyle/>
          <a:p>
            <a:pPr algn="ctr">
              <a:lnSpc>
                <a:spcPts val="11200"/>
              </a:lnSpc>
            </a:pPr>
            <a:r>
              <a:rPr lang="en-US" sz="8000" spc="-168">
                <a:solidFill>
                  <a:srgbClr val="FFDE59"/>
                </a:solidFill>
                <a:latin typeface="Noto Serif Bengali SemiCondensed"/>
                <a:ea typeface="Noto Serif Bengali SemiCondensed"/>
                <a:cs typeface="Noto Serif Bengali SemiCondensed"/>
                <a:sym typeface="Noto Serif Bengali SemiCondensed"/>
              </a:rPr>
              <a:t>Mullayanagiri </a:t>
            </a:r>
          </a:p>
        </p:txBody>
      </p:sp>
      <p:sp>
        <p:nvSpPr>
          <p:cNvPr name="TextBox 7" id="7"/>
          <p:cNvSpPr txBox="true"/>
          <p:nvPr/>
        </p:nvSpPr>
        <p:spPr>
          <a:xfrm rot="0">
            <a:off x="9144000" y="5463490"/>
            <a:ext cx="7985538" cy="1472531"/>
          </a:xfrm>
          <a:prstGeom prst="rect">
            <a:avLst/>
          </a:prstGeom>
        </p:spPr>
        <p:txBody>
          <a:bodyPr anchor="t" rtlCol="false" tIns="0" lIns="0" bIns="0" rIns="0">
            <a:spAutoFit/>
          </a:bodyPr>
          <a:lstStyle/>
          <a:p>
            <a:pPr algn="just">
              <a:lnSpc>
                <a:spcPts val="5986"/>
              </a:lnSpc>
            </a:pPr>
            <a:r>
              <a:rPr lang="en-US" sz="4276" spc="-89">
                <a:solidFill>
                  <a:srgbClr val="EBC118"/>
                </a:solidFill>
                <a:latin typeface="Noto Serif Bengali SemiCondensed"/>
                <a:ea typeface="Noto Serif Bengali SemiCondensed"/>
                <a:cs typeface="Noto Serif Bengali SemiCondensed"/>
                <a:sym typeface="Noto Serif Bengali SemiCondensed"/>
              </a:rPr>
              <a:t>With a height of 1,925 metres, it is the highest peak in Karnataka</a:t>
            </a:r>
          </a:p>
        </p:txBody>
      </p:sp>
    </p:spTree>
  </p:cSld>
  <p:clrMapOvr>
    <a:masterClrMapping/>
  </p:clrMapOvr>
  <p:transition spd="slow">
    <p:cover dir="u"/>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90790" y="1028700"/>
            <a:ext cx="18730932" cy="8229600"/>
            <a:chOff x="0" y="0"/>
            <a:chExt cx="7311962" cy="3212575"/>
          </a:xfrm>
        </p:grpSpPr>
        <p:sp>
          <p:nvSpPr>
            <p:cNvPr name="Freeform 3" id="3"/>
            <p:cNvSpPr/>
            <p:nvPr/>
          </p:nvSpPr>
          <p:spPr>
            <a:xfrm flipH="false" flipV="false" rot="0">
              <a:off x="0" y="0"/>
              <a:ext cx="7311962" cy="3212575"/>
            </a:xfrm>
            <a:custGeom>
              <a:avLst/>
              <a:gdLst/>
              <a:ahLst/>
              <a:cxnLst/>
              <a:rect r="r" b="b" t="t" l="l"/>
              <a:pathLst>
                <a:path h="3212575" w="7311962">
                  <a:moveTo>
                    <a:pt x="0" y="0"/>
                  </a:moveTo>
                  <a:lnTo>
                    <a:pt x="7311962" y="0"/>
                  </a:lnTo>
                  <a:lnTo>
                    <a:pt x="7311962" y="3212575"/>
                  </a:lnTo>
                  <a:lnTo>
                    <a:pt x="0" y="3212575"/>
                  </a:lnTo>
                  <a:close/>
                </a:path>
              </a:pathLst>
            </a:custGeom>
            <a:blipFill>
              <a:blip r:embed="rId2"/>
              <a:stretch>
                <a:fillRect l="0" t="-101736" r="0" b="-101736"/>
              </a:stretch>
            </a:blipFill>
          </p:spPr>
        </p:sp>
      </p:grpSp>
      <p:grpSp>
        <p:nvGrpSpPr>
          <p:cNvPr name="Group 4" id="4"/>
          <p:cNvGrpSpPr/>
          <p:nvPr/>
        </p:nvGrpSpPr>
        <p:grpSpPr>
          <a:xfrm rot="0">
            <a:off x="9899095" y="1947361"/>
            <a:ext cx="8641047" cy="6392278"/>
            <a:chOff x="0" y="0"/>
            <a:chExt cx="2275831" cy="1683563"/>
          </a:xfrm>
        </p:grpSpPr>
        <p:sp>
          <p:nvSpPr>
            <p:cNvPr name="Freeform 5" id="5"/>
            <p:cNvSpPr/>
            <p:nvPr/>
          </p:nvSpPr>
          <p:spPr>
            <a:xfrm flipH="false" flipV="false" rot="0">
              <a:off x="0" y="0"/>
              <a:ext cx="2275831" cy="1683563"/>
            </a:xfrm>
            <a:custGeom>
              <a:avLst/>
              <a:gdLst/>
              <a:ahLst/>
              <a:cxnLst/>
              <a:rect r="r" b="b" t="t" l="l"/>
              <a:pathLst>
                <a:path h="1683563" w="2275831">
                  <a:moveTo>
                    <a:pt x="0" y="0"/>
                  </a:moveTo>
                  <a:lnTo>
                    <a:pt x="2275831" y="0"/>
                  </a:lnTo>
                  <a:lnTo>
                    <a:pt x="2275831" y="1683563"/>
                  </a:lnTo>
                  <a:lnTo>
                    <a:pt x="0" y="1683563"/>
                  </a:lnTo>
                  <a:close/>
                </a:path>
              </a:pathLst>
            </a:custGeom>
            <a:solidFill>
              <a:srgbClr val="000000"/>
            </a:solidFill>
          </p:spPr>
        </p:sp>
        <p:sp>
          <p:nvSpPr>
            <p:cNvPr name="TextBox 6" id="6"/>
            <p:cNvSpPr txBox="true"/>
            <p:nvPr/>
          </p:nvSpPr>
          <p:spPr>
            <a:xfrm>
              <a:off x="0" y="-47625"/>
              <a:ext cx="2275831" cy="1731188"/>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11787018" y="2773631"/>
            <a:ext cx="5976538" cy="2281555"/>
          </a:xfrm>
          <a:prstGeom prst="rect">
            <a:avLst/>
          </a:prstGeom>
        </p:spPr>
        <p:txBody>
          <a:bodyPr anchor="t" rtlCol="false" tIns="0" lIns="0" bIns="0" rIns="0">
            <a:spAutoFit/>
          </a:bodyPr>
          <a:lstStyle/>
          <a:p>
            <a:pPr algn="r">
              <a:lnSpc>
                <a:spcPts val="8960"/>
              </a:lnSpc>
            </a:pPr>
            <a:r>
              <a:rPr lang="en-US" sz="8000" spc="-168">
                <a:solidFill>
                  <a:srgbClr val="EBC118"/>
                </a:solidFill>
                <a:latin typeface="Noto Serif Bengali SemiCondensed"/>
                <a:ea typeface="Noto Serif Bengali SemiCondensed"/>
                <a:cs typeface="Noto Serif Bengali SemiCondensed"/>
                <a:sym typeface="Noto Serif Bengali SemiCondensed"/>
              </a:rPr>
              <a:t>Nethravathi Peak</a:t>
            </a:r>
          </a:p>
        </p:txBody>
      </p:sp>
      <p:sp>
        <p:nvSpPr>
          <p:cNvPr name="TextBox 8" id="8"/>
          <p:cNvSpPr txBox="true"/>
          <p:nvPr/>
        </p:nvSpPr>
        <p:spPr>
          <a:xfrm rot="0">
            <a:off x="10319504" y="5620434"/>
            <a:ext cx="6687654" cy="1616711"/>
          </a:xfrm>
          <a:prstGeom prst="rect">
            <a:avLst/>
          </a:prstGeom>
        </p:spPr>
        <p:txBody>
          <a:bodyPr anchor="t" rtlCol="false" tIns="0" lIns="0" bIns="0" rIns="0">
            <a:spAutoFit/>
          </a:bodyPr>
          <a:lstStyle/>
          <a:p>
            <a:pPr algn="just">
              <a:lnSpc>
                <a:spcPts val="4339"/>
              </a:lnSpc>
            </a:pPr>
            <a:r>
              <a:rPr lang="en-US" sz="3099" spc="-65">
                <a:solidFill>
                  <a:srgbClr val="EBC118"/>
                </a:solidFill>
                <a:latin typeface="Noto Serif Bengali SemiCondensed"/>
                <a:ea typeface="Noto Serif Bengali SemiCondensed"/>
                <a:cs typeface="Noto Serif Bengali SemiCondensed"/>
                <a:sym typeface="Noto Serif Bengali SemiCondensed"/>
              </a:rPr>
              <a:t>Nethravathi Peak is a popular trekking destination in the Kudremukh region of Chikkamagaluru district, Karnataka.</a:t>
            </a:r>
          </a:p>
        </p:txBody>
      </p:sp>
    </p:spTree>
  </p:cSld>
  <p:clrMapOvr>
    <a:masterClrMapping/>
  </p:clrMapOvr>
  <p:transition spd="slow">
    <p:wipe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23238"/>
            <a:ext cx="4345100" cy="10838756"/>
            <a:chOff x="0" y="0"/>
            <a:chExt cx="1533789" cy="3826004"/>
          </a:xfrm>
        </p:grpSpPr>
        <p:sp>
          <p:nvSpPr>
            <p:cNvPr name="Freeform 3" id="3"/>
            <p:cNvSpPr/>
            <p:nvPr/>
          </p:nvSpPr>
          <p:spPr>
            <a:xfrm flipH="false" flipV="false" rot="0">
              <a:off x="0" y="0"/>
              <a:ext cx="1533789" cy="3826004"/>
            </a:xfrm>
            <a:custGeom>
              <a:avLst/>
              <a:gdLst/>
              <a:ahLst/>
              <a:cxnLst/>
              <a:rect r="r" b="b" t="t" l="l"/>
              <a:pathLst>
                <a:path h="3826004" w="1533789">
                  <a:moveTo>
                    <a:pt x="0" y="0"/>
                  </a:moveTo>
                  <a:lnTo>
                    <a:pt x="1533789" y="0"/>
                  </a:lnTo>
                  <a:lnTo>
                    <a:pt x="1533789" y="3826004"/>
                  </a:lnTo>
                  <a:lnTo>
                    <a:pt x="0" y="3826004"/>
                  </a:lnTo>
                  <a:close/>
                </a:path>
              </a:pathLst>
            </a:custGeom>
            <a:blipFill>
              <a:blip r:embed="rId2"/>
              <a:stretch>
                <a:fillRect l="-49779" t="0" r="-49779" b="0"/>
              </a:stretch>
            </a:blipFill>
          </p:spPr>
        </p:sp>
      </p:grpSp>
      <p:grpSp>
        <p:nvGrpSpPr>
          <p:cNvPr name="Group 4" id="4"/>
          <p:cNvGrpSpPr/>
          <p:nvPr/>
        </p:nvGrpSpPr>
        <p:grpSpPr>
          <a:xfrm rot="0">
            <a:off x="5189493" y="1569041"/>
            <a:ext cx="8999277" cy="4649635"/>
            <a:chOff x="0" y="0"/>
            <a:chExt cx="2370180" cy="1224595"/>
          </a:xfrm>
        </p:grpSpPr>
        <p:sp>
          <p:nvSpPr>
            <p:cNvPr name="Freeform 5" id="5"/>
            <p:cNvSpPr/>
            <p:nvPr/>
          </p:nvSpPr>
          <p:spPr>
            <a:xfrm flipH="false" flipV="false" rot="0">
              <a:off x="0" y="0"/>
              <a:ext cx="2370180" cy="1224595"/>
            </a:xfrm>
            <a:custGeom>
              <a:avLst/>
              <a:gdLst/>
              <a:ahLst/>
              <a:cxnLst/>
              <a:rect r="r" b="b" t="t" l="l"/>
              <a:pathLst>
                <a:path h="1224595" w="2370180">
                  <a:moveTo>
                    <a:pt x="0" y="0"/>
                  </a:moveTo>
                  <a:lnTo>
                    <a:pt x="2370180" y="0"/>
                  </a:lnTo>
                  <a:lnTo>
                    <a:pt x="2370180" y="1224595"/>
                  </a:lnTo>
                  <a:lnTo>
                    <a:pt x="0" y="1224595"/>
                  </a:lnTo>
                  <a:close/>
                </a:path>
              </a:pathLst>
            </a:custGeom>
            <a:solidFill>
              <a:srgbClr val="000000"/>
            </a:solidFill>
          </p:spPr>
        </p:sp>
        <p:sp>
          <p:nvSpPr>
            <p:cNvPr name="TextBox 6" id="6"/>
            <p:cNvSpPr txBox="true"/>
            <p:nvPr/>
          </p:nvSpPr>
          <p:spPr>
            <a:xfrm>
              <a:off x="0" y="-47625"/>
              <a:ext cx="2370180" cy="1272220"/>
            </a:xfrm>
            <a:prstGeom prst="rect">
              <a:avLst/>
            </a:prstGeom>
          </p:spPr>
          <p:txBody>
            <a:bodyPr anchor="ctr" rtlCol="false" tIns="50800" lIns="50800" bIns="50800" rIns="50800"/>
            <a:lstStyle/>
            <a:p>
              <a:pPr algn="ctr">
                <a:lnSpc>
                  <a:spcPts val="2940"/>
                </a:lnSpc>
              </a:pPr>
            </a:p>
          </p:txBody>
        </p:sp>
      </p:grpSp>
      <p:grpSp>
        <p:nvGrpSpPr>
          <p:cNvPr name="Group 7" id="7"/>
          <p:cNvGrpSpPr/>
          <p:nvPr/>
        </p:nvGrpSpPr>
        <p:grpSpPr>
          <a:xfrm rot="0">
            <a:off x="13759733" y="-23238"/>
            <a:ext cx="4955254" cy="10990454"/>
            <a:chOff x="0" y="0"/>
            <a:chExt cx="1934374" cy="4290325"/>
          </a:xfrm>
        </p:grpSpPr>
        <p:sp>
          <p:nvSpPr>
            <p:cNvPr name="Freeform 8" id="8"/>
            <p:cNvSpPr/>
            <p:nvPr/>
          </p:nvSpPr>
          <p:spPr>
            <a:xfrm flipH="false" flipV="false" rot="0">
              <a:off x="0" y="0"/>
              <a:ext cx="1934374" cy="4290325"/>
            </a:xfrm>
            <a:custGeom>
              <a:avLst/>
              <a:gdLst/>
              <a:ahLst/>
              <a:cxnLst/>
              <a:rect r="r" b="b" t="t" l="l"/>
              <a:pathLst>
                <a:path h="4290325" w="1934374">
                  <a:moveTo>
                    <a:pt x="0" y="0"/>
                  </a:moveTo>
                  <a:lnTo>
                    <a:pt x="1934374" y="0"/>
                  </a:lnTo>
                  <a:lnTo>
                    <a:pt x="1934374" y="4290325"/>
                  </a:lnTo>
                  <a:lnTo>
                    <a:pt x="0" y="4290325"/>
                  </a:lnTo>
                  <a:close/>
                </a:path>
              </a:pathLst>
            </a:custGeom>
            <a:blipFill>
              <a:blip r:embed="rId3"/>
              <a:stretch>
                <a:fillRect l="-12505" t="0" r="-12505" b="0"/>
              </a:stretch>
            </a:blipFill>
          </p:spPr>
        </p:sp>
      </p:grpSp>
      <p:grpSp>
        <p:nvGrpSpPr>
          <p:cNvPr name="Group 9" id="9"/>
          <p:cNvGrpSpPr/>
          <p:nvPr/>
        </p:nvGrpSpPr>
        <p:grpSpPr>
          <a:xfrm rot="0">
            <a:off x="4636128" y="7729299"/>
            <a:ext cx="4242956" cy="2390100"/>
            <a:chOff x="0" y="0"/>
            <a:chExt cx="2951104" cy="1662387"/>
          </a:xfrm>
        </p:grpSpPr>
        <p:sp>
          <p:nvSpPr>
            <p:cNvPr name="Freeform 10" id="10"/>
            <p:cNvSpPr/>
            <p:nvPr/>
          </p:nvSpPr>
          <p:spPr>
            <a:xfrm flipH="false" flipV="false" rot="0">
              <a:off x="0" y="0"/>
              <a:ext cx="2951104" cy="1662387"/>
            </a:xfrm>
            <a:custGeom>
              <a:avLst/>
              <a:gdLst/>
              <a:ahLst/>
              <a:cxnLst/>
              <a:rect r="r" b="b" t="t" l="l"/>
              <a:pathLst>
                <a:path h="1662387" w="2951104">
                  <a:moveTo>
                    <a:pt x="0" y="0"/>
                  </a:moveTo>
                  <a:lnTo>
                    <a:pt x="2951104" y="0"/>
                  </a:lnTo>
                  <a:lnTo>
                    <a:pt x="2951104" y="1662387"/>
                  </a:lnTo>
                  <a:lnTo>
                    <a:pt x="0" y="1662387"/>
                  </a:lnTo>
                  <a:close/>
                </a:path>
              </a:pathLst>
            </a:custGeom>
            <a:blipFill>
              <a:blip r:embed="rId4"/>
              <a:stretch>
                <a:fillRect l="0" t="-1481" r="0" b="-1481"/>
              </a:stretch>
            </a:blipFill>
          </p:spPr>
        </p:sp>
      </p:grpSp>
      <p:sp>
        <p:nvSpPr>
          <p:cNvPr name="Freeform 11" id="11"/>
          <p:cNvSpPr/>
          <p:nvPr/>
        </p:nvSpPr>
        <p:spPr>
          <a:xfrm flipH="false" flipV="false" rot="0">
            <a:off x="4494168" y="0"/>
            <a:ext cx="1634840" cy="2254951"/>
          </a:xfrm>
          <a:custGeom>
            <a:avLst/>
            <a:gdLst/>
            <a:ahLst/>
            <a:cxnLst/>
            <a:rect r="r" b="b" t="t" l="l"/>
            <a:pathLst>
              <a:path h="2254951" w="1634840">
                <a:moveTo>
                  <a:pt x="0" y="0"/>
                </a:moveTo>
                <a:lnTo>
                  <a:pt x="1634840" y="0"/>
                </a:lnTo>
                <a:lnTo>
                  <a:pt x="1634840" y="2254951"/>
                </a:lnTo>
                <a:lnTo>
                  <a:pt x="0" y="2254951"/>
                </a:lnTo>
                <a:lnTo>
                  <a:pt x="0" y="0"/>
                </a:lnTo>
                <a:close/>
              </a:path>
            </a:pathLst>
          </a:custGeom>
          <a:blipFill>
            <a:blip r:embed="rId5"/>
            <a:stretch>
              <a:fillRect l="0" t="0" r="0" b="0"/>
            </a:stretch>
          </a:blipFill>
        </p:spPr>
      </p:sp>
      <p:sp>
        <p:nvSpPr>
          <p:cNvPr name="TextBox 12" id="12"/>
          <p:cNvSpPr txBox="true"/>
          <p:nvPr/>
        </p:nvSpPr>
        <p:spPr>
          <a:xfrm rot="0">
            <a:off x="4636128" y="3043089"/>
            <a:ext cx="8330797" cy="2353050"/>
          </a:xfrm>
          <a:prstGeom prst="rect">
            <a:avLst/>
          </a:prstGeom>
        </p:spPr>
        <p:txBody>
          <a:bodyPr anchor="t" rtlCol="false" tIns="0" lIns="0" bIns="0" rIns="0">
            <a:spAutoFit/>
          </a:bodyPr>
          <a:lstStyle/>
          <a:p>
            <a:pPr algn="just">
              <a:lnSpc>
                <a:spcPts val="4768"/>
              </a:lnSpc>
            </a:pPr>
            <a:r>
              <a:rPr lang="en-US" sz="3406" spc="-71">
                <a:solidFill>
                  <a:srgbClr val="EBC118"/>
                </a:solidFill>
                <a:latin typeface="Noto Serif Bengali SemiCondensed"/>
                <a:ea typeface="Noto Serif Bengali SemiCondensed"/>
                <a:cs typeface="Noto Serif Bengali SemiCondensed"/>
                <a:sym typeface="Noto Serif Bengali SemiCondensed"/>
              </a:rPr>
              <a:t>Hebbe Falls – a two-stage waterfall near Kemmangundi.</a:t>
            </a:r>
          </a:p>
          <a:p>
            <a:pPr algn="just">
              <a:lnSpc>
                <a:spcPts val="4768"/>
              </a:lnSpc>
            </a:pPr>
            <a:r>
              <a:rPr lang="en-US" sz="3406" spc="-71">
                <a:solidFill>
                  <a:srgbClr val="EBC118"/>
                </a:solidFill>
                <a:latin typeface="Noto Serif Bengali SemiCondensed"/>
                <a:ea typeface="Noto Serif Bengali SemiCondensed"/>
                <a:cs typeface="Noto Serif Bengali SemiCondensed"/>
                <a:sym typeface="Noto Serif Bengali SemiCondensed"/>
              </a:rPr>
              <a:t>Jhari Falls – a popular waterfall Dattathreya Peeta.</a:t>
            </a:r>
          </a:p>
        </p:txBody>
      </p:sp>
      <p:sp>
        <p:nvSpPr>
          <p:cNvPr name="TextBox 13" id="13"/>
          <p:cNvSpPr txBox="true"/>
          <p:nvPr/>
        </p:nvSpPr>
        <p:spPr>
          <a:xfrm rot="0">
            <a:off x="6096613" y="100587"/>
            <a:ext cx="8893447" cy="1980051"/>
          </a:xfrm>
          <a:prstGeom prst="rect">
            <a:avLst/>
          </a:prstGeom>
        </p:spPr>
        <p:txBody>
          <a:bodyPr anchor="t" rtlCol="false" tIns="0" lIns="0" bIns="0" rIns="0">
            <a:spAutoFit/>
          </a:bodyPr>
          <a:lstStyle/>
          <a:p>
            <a:pPr algn="l">
              <a:lnSpc>
                <a:spcPts val="7670"/>
              </a:lnSpc>
            </a:pPr>
            <a:r>
              <a:rPr lang="en-US" b="true" sz="7446" spc="52">
                <a:solidFill>
                  <a:srgbClr val="FFFFFF"/>
                </a:solidFill>
                <a:latin typeface="Noto Serif Bengali SemiCondensed Bold"/>
                <a:ea typeface="Noto Serif Bengali SemiCondensed Bold"/>
                <a:cs typeface="Noto Serif Bengali SemiCondensed Bold"/>
                <a:sym typeface="Noto Serif Bengali SemiCondensed Bold"/>
              </a:rPr>
              <a:t>Waterfalls of Chikkamagaluru</a:t>
            </a:r>
          </a:p>
        </p:txBody>
      </p:sp>
    </p:spTree>
  </p:cSld>
  <p:clrMapOvr>
    <a:masterClrMapping/>
  </p:clrMapOvr>
  <p:transition spd="slow">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760376" y="256480"/>
            <a:ext cx="7757625" cy="2852995"/>
            <a:chOff x="0" y="0"/>
            <a:chExt cx="3081536" cy="1133286"/>
          </a:xfrm>
        </p:grpSpPr>
        <p:sp>
          <p:nvSpPr>
            <p:cNvPr name="Freeform 3" id="3"/>
            <p:cNvSpPr/>
            <p:nvPr/>
          </p:nvSpPr>
          <p:spPr>
            <a:xfrm flipH="false" flipV="false" rot="0">
              <a:off x="0" y="0"/>
              <a:ext cx="3081536" cy="1133286"/>
            </a:xfrm>
            <a:custGeom>
              <a:avLst/>
              <a:gdLst/>
              <a:ahLst/>
              <a:cxnLst/>
              <a:rect r="r" b="b" t="t" l="l"/>
              <a:pathLst>
                <a:path h="1133286" w="3081536">
                  <a:moveTo>
                    <a:pt x="0" y="0"/>
                  </a:moveTo>
                  <a:lnTo>
                    <a:pt x="3081536" y="0"/>
                  </a:lnTo>
                  <a:lnTo>
                    <a:pt x="3081536" y="1133286"/>
                  </a:lnTo>
                  <a:lnTo>
                    <a:pt x="0" y="1133286"/>
                  </a:lnTo>
                  <a:close/>
                </a:path>
              </a:pathLst>
            </a:custGeom>
            <a:blipFill>
              <a:blip r:embed="rId2"/>
              <a:stretch>
                <a:fillRect l="0" t="-26579" r="0" b="-26579"/>
              </a:stretch>
            </a:blipFill>
          </p:spPr>
        </p:sp>
      </p:grpSp>
      <p:grpSp>
        <p:nvGrpSpPr>
          <p:cNvPr name="Group 4" id="4"/>
          <p:cNvGrpSpPr/>
          <p:nvPr/>
        </p:nvGrpSpPr>
        <p:grpSpPr>
          <a:xfrm rot="0">
            <a:off x="9139550" y="5107284"/>
            <a:ext cx="8999277" cy="4649635"/>
            <a:chOff x="0" y="0"/>
            <a:chExt cx="2370180" cy="1224595"/>
          </a:xfrm>
        </p:grpSpPr>
        <p:sp>
          <p:nvSpPr>
            <p:cNvPr name="Freeform 5" id="5"/>
            <p:cNvSpPr/>
            <p:nvPr/>
          </p:nvSpPr>
          <p:spPr>
            <a:xfrm flipH="false" flipV="false" rot="0">
              <a:off x="0" y="0"/>
              <a:ext cx="2370180" cy="1224595"/>
            </a:xfrm>
            <a:custGeom>
              <a:avLst/>
              <a:gdLst/>
              <a:ahLst/>
              <a:cxnLst/>
              <a:rect r="r" b="b" t="t" l="l"/>
              <a:pathLst>
                <a:path h="1224595" w="2370180">
                  <a:moveTo>
                    <a:pt x="0" y="0"/>
                  </a:moveTo>
                  <a:lnTo>
                    <a:pt x="2370180" y="0"/>
                  </a:lnTo>
                  <a:lnTo>
                    <a:pt x="2370180" y="1224595"/>
                  </a:lnTo>
                  <a:lnTo>
                    <a:pt x="0" y="1224595"/>
                  </a:lnTo>
                  <a:close/>
                </a:path>
              </a:pathLst>
            </a:custGeom>
            <a:solidFill>
              <a:srgbClr val="000000"/>
            </a:solidFill>
          </p:spPr>
        </p:sp>
        <p:sp>
          <p:nvSpPr>
            <p:cNvPr name="TextBox 6" id="6"/>
            <p:cNvSpPr txBox="true"/>
            <p:nvPr/>
          </p:nvSpPr>
          <p:spPr>
            <a:xfrm>
              <a:off x="0" y="-47625"/>
              <a:ext cx="2370180" cy="1272220"/>
            </a:xfrm>
            <a:prstGeom prst="rect">
              <a:avLst/>
            </a:prstGeom>
          </p:spPr>
          <p:txBody>
            <a:bodyPr anchor="ctr" rtlCol="false" tIns="50800" lIns="50800" bIns="50800" rIns="50800"/>
            <a:lstStyle/>
            <a:p>
              <a:pPr algn="ctr">
                <a:lnSpc>
                  <a:spcPts val="2940"/>
                </a:lnSpc>
              </a:pPr>
            </a:p>
          </p:txBody>
        </p:sp>
      </p:grpSp>
      <p:grpSp>
        <p:nvGrpSpPr>
          <p:cNvPr name="Group 7" id="7"/>
          <p:cNvGrpSpPr/>
          <p:nvPr/>
        </p:nvGrpSpPr>
        <p:grpSpPr>
          <a:xfrm rot="0">
            <a:off x="9472445" y="4943023"/>
            <a:ext cx="7767805" cy="4315277"/>
            <a:chOff x="0" y="0"/>
            <a:chExt cx="3032305" cy="1684547"/>
          </a:xfrm>
        </p:grpSpPr>
        <p:sp>
          <p:nvSpPr>
            <p:cNvPr name="Freeform 8" id="8"/>
            <p:cNvSpPr/>
            <p:nvPr/>
          </p:nvSpPr>
          <p:spPr>
            <a:xfrm flipH="false" flipV="false" rot="0">
              <a:off x="0" y="0"/>
              <a:ext cx="3032305" cy="1684547"/>
            </a:xfrm>
            <a:custGeom>
              <a:avLst/>
              <a:gdLst/>
              <a:ahLst/>
              <a:cxnLst/>
              <a:rect r="r" b="b" t="t" l="l"/>
              <a:pathLst>
                <a:path h="1684547" w="3032305">
                  <a:moveTo>
                    <a:pt x="0" y="0"/>
                  </a:moveTo>
                  <a:lnTo>
                    <a:pt x="3032305" y="0"/>
                  </a:lnTo>
                  <a:lnTo>
                    <a:pt x="3032305" y="1684547"/>
                  </a:lnTo>
                  <a:lnTo>
                    <a:pt x="0" y="1684547"/>
                  </a:lnTo>
                  <a:close/>
                </a:path>
              </a:pathLst>
            </a:custGeom>
            <a:blipFill>
              <a:blip r:embed="rId3"/>
              <a:stretch>
                <a:fillRect l="0" t="-151" r="0" b="-151"/>
              </a:stretch>
            </a:blipFill>
          </p:spPr>
        </p:sp>
      </p:grpSp>
      <p:grpSp>
        <p:nvGrpSpPr>
          <p:cNvPr name="Group 9" id="9"/>
          <p:cNvGrpSpPr/>
          <p:nvPr/>
        </p:nvGrpSpPr>
        <p:grpSpPr>
          <a:xfrm rot="0">
            <a:off x="0" y="3839915"/>
            <a:ext cx="8580933" cy="2873247"/>
            <a:chOff x="0" y="0"/>
            <a:chExt cx="3349724" cy="1121625"/>
          </a:xfrm>
        </p:grpSpPr>
        <p:sp>
          <p:nvSpPr>
            <p:cNvPr name="Freeform 10" id="10"/>
            <p:cNvSpPr/>
            <p:nvPr/>
          </p:nvSpPr>
          <p:spPr>
            <a:xfrm flipH="false" flipV="false" rot="0">
              <a:off x="0" y="0"/>
              <a:ext cx="3349724" cy="1121625"/>
            </a:xfrm>
            <a:custGeom>
              <a:avLst/>
              <a:gdLst/>
              <a:ahLst/>
              <a:cxnLst/>
              <a:rect r="r" b="b" t="t" l="l"/>
              <a:pathLst>
                <a:path h="1121625" w="3349724">
                  <a:moveTo>
                    <a:pt x="0" y="0"/>
                  </a:moveTo>
                  <a:lnTo>
                    <a:pt x="3349724" y="0"/>
                  </a:lnTo>
                  <a:lnTo>
                    <a:pt x="3349724" y="1121625"/>
                  </a:lnTo>
                  <a:lnTo>
                    <a:pt x="0" y="1121625"/>
                  </a:lnTo>
                  <a:close/>
                </a:path>
              </a:pathLst>
            </a:custGeom>
            <a:blipFill>
              <a:blip r:embed="rId4"/>
              <a:stretch>
                <a:fillRect l="0" t="-49549" r="0" b="-49549"/>
              </a:stretch>
            </a:blipFill>
          </p:spPr>
        </p:sp>
      </p:grpSp>
      <p:sp>
        <p:nvSpPr>
          <p:cNvPr name="Freeform 11" id="11"/>
          <p:cNvSpPr/>
          <p:nvPr/>
        </p:nvSpPr>
        <p:spPr>
          <a:xfrm flipH="false" flipV="false" rot="0">
            <a:off x="-1509355" y="-374423"/>
            <a:ext cx="5241783" cy="4114800"/>
          </a:xfrm>
          <a:custGeom>
            <a:avLst/>
            <a:gdLst/>
            <a:ahLst/>
            <a:cxnLst/>
            <a:rect r="r" b="b" t="t" l="l"/>
            <a:pathLst>
              <a:path h="4114800" w="5241783">
                <a:moveTo>
                  <a:pt x="0" y="0"/>
                </a:moveTo>
                <a:lnTo>
                  <a:pt x="5241784" y="0"/>
                </a:lnTo>
                <a:lnTo>
                  <a:pt x="52417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702941" y="6603744"/>
            <a:ext cx="4634645" cy="1485266"/>
          </a:xfrm>
          <a:prstGeom prst="rect">
            <a:avLst/>
          </a:prstGeom>
        </p:spPr>
        <p:txBody>
          <a:bodyPr anchor="t" rtlCol="false" tIns="0" lIns="0" bIns="0" rIns="0">
            <a:spAutoFit/>
          </a:bodyPr>
          <a:lstStyle/>
          <a:p>
            <a:pPr algn="just">
              <a:lnSpc>
                <a:spcPts val="12109"/>
              </a:lnSpc>
            </a:pPr>
            <a:r>
              <a:rPr lang="en-US" sz="8649" spc="-181">
                <a:solidFill>
                  <a:srgbClr val="EBC118"/>
                </a:solidFill>
                <a:latin typeface="Noto Serif Bengali SemiCondensed"/>
                <a:ea typeface="Noto Serif Bengali SemiCondensed"/>
                <a:cs typeface="Noto Serif Bengali SemiCondensed"/>
                <a:sym typeface="Noto Serif Bengali SemiCondensed"/>
              </a:rPr>
              <a:t>Bhadra</a:t>
            </a:r>
          </a:p>
        </p:txBody>
      </p:sp>
      <p:sp>
        <p:nvSpPr>
          <p:cNvPr name="TextBox 13" id="13"/>
          <p:cNvSpPr txBox="true"/>
          <p:nvPr/>
        </p:nvSpPr>
        <p:spPr>
          <a:xfrm rot="0">
            <a:off x="2907393" y="321652"/>
            <a:ext cx="5526466" cy="1770451"/>
          </a:xfrm>
          <a:prstGeom prst="rect">
            <a:avLst/>
          </a:prstGeom>
        </p:spPr>
        <p:txBody>
          <a:bodyPr anchor="t" rtlCol="false" tIns="0" lIns="0" bIns="0" rIns="0">
            <a:spAutoFit/>
          </a:bodyPr>
          <a:lstStyle/>
          <a:p>
            <a:pPr algn="l">
              <a:lnSpc>
                <a:spcPts val="14551"/>
              </a:lnSpc>
            </a:pPr>
            <a:r>
              <a:rPr lang="en-US" sz="10394" spc="-218">
                <a:solidFill>
                  <a:srgbClr val="55B8D9"/>
                </a:solidFill>
                <a:latin typeface="Noto Serif Bengali SemiCondensed"/>
                <a:ea typeface="Noto Serif Bengali SemiCondensed"/>
                <a:cs typeface="Noto Serif Bengali SemiCondensed"/>
                <a:sym typeface="Noto Serif Bengali SemiCondensed"/>
              </a:rPr>
              <a:t> Rivers</a:t>
            </a:r>
          </a:p>
        </p:txBody>
      </p:sp>
      <p:sp>
        <p:nvSpPr>
          <p:cNvPr name="TextBox 14" id="14"/>
          <p:cNvSpPr txBox="true"/>
          <p:nvPr/>
        </p:nvSpPr>
        <p:spPr>
          <a:xfrm rot="0">
            <a:off x="6640253" y="1920653"/>
            <a:ext cx="5007494" cy="1485170"/>
          </a:xfrm>
          <a:prstGeom prst="rect">
            <a:avLst/>
          </a:prstGeom>
        </p:spPr>
        <p:txBody>
          <a:bodyPr anchor="t" rtlCol="false" tIns="0" lIns="0" bIns="0" rIns="0">
            <a:spAutoFit/>
          </a:bodyPr>
          <a:lstStyle/>
          <a:p>
            <a:pPr algn="just">
              <a:lnSpc>
                <a:spcPts val="12115"/>
              </a:lnSpc>
            </a:pPr>
            <a:r>
              <a:rPr lang="en-US" sz="8653" spc="-181">
                <a:solidFill>
                  <a:srgbClr val="EBC118"/>
                </a:solidFill>
                <a:latin typeface="Noto Serif Bengali SemiCondensed"/>
                <a:ea typeface="Noto Serif Bengali SemiCondensed"/>
                <a:cs typeface="Noto Serif Bengali SemiCondensed"/>
                <a:sym typeface="Noto Serif Bengali SemiCondensed"/>
              </a:rPr>
              <a:t>Tunga </a:t>
            </a:r>
          </a:p>
        </p:txBody>
      </p:sp>
    </p:spTree>
  </p:cSld>
  <p:clrMapOvr>
    <a:masterClrMapping/>
  </p:clrMapOvr>
  <p:transition spd="slow">
    <p:cover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085753" y="585788"/>
            <a:ext cx="12076657" cy="9115423"/>
            <a:chOff x="0" y="0"/>
            <a:chExt cx="5752538" cy="4341998"/>
          </a:xfrm>
        </p:grpSpPr>
        <p:sp>
          <p:nvSpPr>
            <p:cNvPr name="Freeform 3" id="3"/>
            <p:cNvSpPr/>
            <p:nvPr/>
          </p:nvSpPr>
          <p:spPr>
            <a:xfrm flipH="false" flipV="false" rot="0">
              <a:off x="0" y="0"/>
              <a:ext cx="5752538" cy="4341998"/>
            </a:xfrm>
            <a:custGeom>
              <a:avLst/>
              <a:gdLst/>
              <a:ahLst/>
              <a:cxnLst/>
              <a:rect r="r" b="b" t="t" l="l"/>
              <a:pathLst>
                <a:path h="4341998" w="5752538">
                  <a:moveTo>
                    <a:pt x="0" y="0"/>
                  </a:moveTo>
                  <a:lnTo>
                    <a:pt x="5752538" y="0"/>
                  </a:lnTo>
                  <a:lnTo>
                    <a:pt x="5752538" y="4341998"/>
                  </a:lnTo>
                  <a:lnTo>
                    <a:pt x="0" y="4341998"/>
                  </a:lnTo>
                  <a:close/>
                </a:path>
              </a:pathLst>
            </a:custGeom>
            <a:blipFill>
              <a:blip r:embed="rId2">
                <a:alphaModFix amt="68000"/>
              </a:blip>
              <a:stretch>
                <a:fillRect l="0" t="-32803" r="0" b="-32803"/>
              </a:stretch>
            </a:blipFill>
          </p:spPr>
        </p:sp>
      </p:grpSp>
      <p:grpSp>
        <p:nvGrpSpPr>
          <p:cNvPr name="Group 4" id="4"/>
          <p:cNvGrpSpPr/>
          <p:nvPr/>
        </p:nvGrpSpPr>
        <p:grpSpPr>
          <a:xfrm rot="0">
            <a:off x="-1239690" y="416420"/>
            <a:ext cx="9734296" cy="6910361"/>
            <a:chOff x="0" y="0"/>
            <a:chExt cx="2563765" cy="1820013"/>
          </a:xfrm>
        </p:grpSpPr>
        <p:sp>
          <p:nvSpPr>
            <p:cNvPr name="Freeform 5" id="5"/>
            <p:cNvSpPr/>
            <p:nvPr/>
          </p:nvSpPr>
          <p:spPr>
            <a:xfrm flipH="false" flipV="false" rot="0">
              <a:off x="0" y="0"/>
              <a:ext cx="2563765" cy="1820013"/>
            </a:xfrm>
            <a:custGeom>
              <a:avLst/>
              <a:gdLst/>
              <a:ahLst/>
              <a:cxnLst/>
              <a:rect r="r" b="b" t="t" l="l"/>
              <a:pathLst>
                <a:path h="1820013" w="2563765">
                  <a:moveTo>
                    <a:pt x="0" y="0"/>
                  </a:moveTo>
                  <a:lnTo>
                    <a:pt x="2563765" y="0"/>
                  </a:lnTo>
                  <a:lnTo>
                    <a:pt x="2563765" y="1820013"/>
                  </a:lnTo>
                  <a:lnTo>
                    <a:pt x="0" y="1820013"/>
                  </a:lnTo>
                  <a:close/>
                </a:path>
              </a:pathLst>
            </a:custGeom>
            <a:solidFill>
              <a:srgbClr val="000000">
                <a:alpha val="90980"/>
              </a:srgbClr>
            </a:solidFill>
          </p:spPr>
        </p:sp>
        <p:sp>
          <p:nvSpPr>
            <p:cNvPr name="TextBox 6" id="6"/>
            <p:cNvSpPr txBox="true"/>
            <p:nvPr/>
          </p:nvSpPr>
          <p:spPr>
            <a:xfrm>
              <a:off x="0" y="-47625"/>
              <a:ext cx="2563765" cy="1867638"/>
            </a:xfrm>
            <a:prstGeom prst="rect">
              <a:avLst/>
            </a:prstGeom>
          </p:spPr>
          <p:txBody>
            <a:bodyPr anchor="ctr" rtlCol="false" tIns="50800" lIns="50800" bIns="50800" rIns="50800"/>
            <a:lstStyle/>
            <a:p>
              <a:pPr algn="ctr">
                <a:lnSpc>
                  <a:spcPts val="2940"/>
                </a:lnSpc>
              </a:pPr>
            </a:p>
          </p:txBody>
        </p:sp>
      </p:grpSp>
      <p:sp>
        <p:nvSpPr>
          <p:cNvPr name="TextBox 7" id="7"/>
          <p:cNvSpPr txBox="true"/>
          <p:nvPr/>
        </p:nvSpPr>
        <p:spPr>
          <a:xfrm rot="0">
            <a:off x="574861" y="600338"/>
            <a:ext cx="7557917" cy="2682240"/>
          </a:xfrm>
          <a:prstGeom prst="rect">
            <a:avLst/>
          </a:prstGeom>
        </p:spPr>
        <p:txBody>
          <a:bodyPr anchor="t" rtlCol="false" tIns="0" lIns="0" bIns="0" rIns="0">
            <a:spAutoFit/>
          </a:bodyPr>
          <a:lstStyle/>
          <a:p>
            <a:pPr algn="l">
              <a:lnSpc>
                <a:spcPts val="7080"/>
              </a:lnSpc>
            </a:pPr>
            <a:r>
              <a:rPr lang="en-US" sz="6000" spc="-126">
                <a:solidFill>
                  <a:srgbClr val="EBC118"/>
                </a:solidFill>
                <a:latin typeface="Noto Serif Bengali SemiCondensed"/>
                <a:ea typeface="Noto Serif Bengali SemiCondensed"/>
                <a:cs typeface="Noto Serif Bengali SemiCondensed"/>
                <a:sym typeface="Noto Serif Bengali SemiCondensed"/>
              </a:rPr>
              <a:t>Bhadra Wildlife Sanctuary / Tiger Reserve</a:t>
            </a:r>
          </a:p>
        </p:txBody>
      </p:sp>
      <p:sp>
        <p:nvSpPr>
          <p:cNvPr name="TextBox 8" id="8"/>
          <p:cNvSpPr txBox="true"/>
          <p:nvPr/>
        </p:nvSpPr>
        <p:spPr>
          <a:xfrm rot="0">
            <a:off x="1381938" y="4125858"/>
            <a:ext cx="6425914" cy="1434853"/>
          </a:xfrm>
          <a:prstGeom prst="rect">
            <a:avLst/>
          </a:prstGeom>
        </p:spPr>
        <p:txBody>
          <a:bodyPr anchor="t" rtlCol="false" tIns="0" lIns="0" bIns="0" rIns="0">
            <a:spAutoFit/>
          </a:bodyPr>
          <a:lstStyle/>
          <a:p>
            <a:pPr algn="just">
              <a:lnSpc>
                <a:spcPts val="3863"/>
              </a:lnSpc>
            </a:pPr>
            <a:r>
              <a:rPr lang="en-US" sz="2759" spc="-57">
                <a:solidFill>
                  <a:srgbClr val="EBC118"/>
                </a:solidFill>
                <a:latin typeface="Noto Serif Bengali SemiCondensed"/>
                <a:ea typeface="Noto Serif Bengali SemiCondensed"/>
                <a:cs typeface="Noto Serif Bengali SemiCondensed"/>
                <a:sym typeface="Noto Serif Bengali SemiCondensed"/>
              </a:rPr>
              <a:t>Bhadra Wildlife Sanctuary a protected area and a Project Tiger tiger reserve located 38 km . </a:t>
            </a:r>
          </a:p>
        </p:txBody>
      </p:sp>
    </p:spTree>
  </p:cSld>
  <p:clrMapOvr>
    <a:masterClrMapping/>
  </p:clrMapOvr>
  <p:transition spd="slow">
    <p:cover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9520788" y="1028700"/>
            <a:ext cx="9021090" cy="8229600"/>
            <a:chOff x="0" y="0"/>
            <a:chExt cx="3521548" cy="3212575"/>
          </a:xfrm>
        </p:grpSpPr>
        <p:sp>
          <p:nvSpPr>
            <p:cNvPr name="Freeform 3" id="3"/>
            <p:cNvSpPr/>
            <p:nvPr/>
          </p:nvSpPr>
          <p:spPr>
            <a:xfrm flipH="false" flipV="false" rot="0">
              <a:off x="0" y="0"/>
              <a:ext cx="3521548" cy="3212575"/>
            </a:xfrm>
            <a:custGeom>
              <a:avLst/>
              <a:gdLst/>
              <a:ahLst/>
              <a:cxnLst/>
              <a:rect r="r" b="b" t="t" l="l"/>
              <a:pathLst>
                <a:path h="3212575" w="3521548">
                  <a:moveTo>
                    <a:pt x="0" y="0"/>
                  </a:moveTo>
                  <a:lnTo>
                    <a:pt x="3521548" y="0"/>
                  </a:lnTo>
                  <a:lnTo>
                    <a:pt x="3521548" y="3212575"/>
                  </a:lnTo>
                  <a:lnTo>
                    <a:pt x="0" y="3212575"/>
                  </a:lnTo>
                  <a:close/>
                </a:path>
              </a:pathLst>
            </a:custGeom>
            <a:blipFill>
              <a:blip r:embed="rId2">
                <a:alphaModFix amt="73000"/>
              </a:blip>
              <a:stretch>
                <a:fillRect l="-18488" t="0" r="-18488" b="0"/>
              </a:stretch>
            </a:blipFill>
          </p:spPr>
        </p:sp>
      </p:grpSp>
      <p:sp>
        <p:nvSpPr>
          <p:cNvPr name="TextBox 4" id="4"/>
          <p:cNvSpPr txBox="true"/>
          <p:nvPr/>
        </p:nvSpPr>
        <p:spPr>
          <a:xfrm rot="0">
            <a:off x="1268479" y="1047750"/>
            <a:ext cx="7762062" cy="1191895"/>
          </a:xfrm>
          <a:prstGeom prst="rect">
            <a:avLst/>
          </a:prstGeom>
        </p:spPr>
        <p:txBody>
          <a:bodyPr anchor="t" rtlCol="false" tIns="0" lIns="0" bIns="0" rIns="0">
            <a:spAutoFit/>
          </a:bodyPr>
          <a:lstStyle/>
          <a:p>
            <a:pPr algn="l">
              <a:lnSpc>
                <a:spcPts val="9440"/>
              </a:lnSpc>
            </a:pPr>
            <a:r>
              <a:rPr lang="en-US" sz="8000" spc="-168">
                <a:solidFill>
                  <a:srgbClr val="EBC118"/>
                </a:solidFill>
                <a:latin typeface="Noto Serif Bengali SemiCondensed"/>
                <a:ea typeface="Noto Serif Bengali SemiCondensed"/>
                <a:cs typeface="Noto Serif Bengali SemiCondensed"/>
                <a:sym typeface="Noto Serif Bengali SemiCondensed"/>
              </a:rPr>
              <a:t>Kudremukh </a:t>
            </a:r>
          </a:p>
        </p:txBody>
      </p:sp>
      <p:sp>
        <p:nvSpPr>
          <p:cNvPr name="TextBox 5" id="5"/>
          <p:cNvSpPr txBox="true"/>
          <p:nvPr/>
        </p:nvSpPr>
        <p:spPr>
          <a:xfrm rot="0">
            <a:off x="347941" y="3219431"/>
            <a:ext cx="8512409" cy="4878170"/>
          </a:xfrm>
          <a:prstGeom prst="rect">
            <a:avLst/>
          </a:prstGeom>
        </p:spPr>
        <p:txBody>
          <a:bodyPr anchor="t" rtlCol="false" tIns="0" lIns="0" bIns="0" rIns="0">
            <a:spAutoFit/>
          </a:bodyPr>
          <a:lstStyle/>
          <a:p>
            <a:pPr algn="just">
              <a:lnSpc>
                <a:spcPts val="5518"/>
              </a:lnSpc>
            </a:pPr>
            <a:r>
              <a:rPr lang="en-US" sz="3941" spc="-82">
                <a:solidFill>
                  <a:srgbClr val="FFFFFF"/>
                </a:solidFill>
                <a:latin typeface="Noto Serif Bengali SemiCondensed"/>
                <a:ea typeface="Noto Serif Bengali SemiCondensed"/>
                <a:cs typeface="Noto Serif Bengali SemiCondensed"/>
                <a:sym typeface="Noto Serif Bengali SemiCondensed"/>
              </a:rPr>
              <a:t>Kudremukh was once a major iron-ore mining region operated by KIOCL. Mining began in the 1970s but was stopped in 2005 due to environmental concerns. Today, the region is primarily known for its forests, biodiversity, trekking and ecotourism.</a:t>
            </a:r>
          </a:p>
        </p:txBody>
      </p:sp>
    </p:spTree>
  </p:cSld>
  <p:clrMapOvr>
    <a:masterClrMapping/>
  </p:clrMapOvr>
  <p:transition spd="fast">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77192" y="2249115"/>
            <a:ext cx="5812589" cy="4114349"/>
            <a:chOff x="0" y="0"/>
            <a:chExt cx="5746891" cy="4067846"/>
          </a:xfrm>
        </p:grpSpPr>
        <p:sp>
          <p:nvSpPr>
            <p:cNvPr name="Freeform 3" id="3"/>
            <p:cNvSpPr/>
            <p:nvPr/>
          </p:nvSpPr>
          <p:spPr>
            <a:xfrm flipH="false" flipV="false" rot="0">
              <a:off x="0" y="0"/>
              <a:ext cx="5746891" cy="4067846"/>
            </a:xfrm>
            <a:custGeom>
              <a:avLst/>
              <a:gdLst/>
              <a:ahLst/>
              <a:cxnLst/>
              <a:rect r="r" b="b" t="t" l="l"/>
              <a:pathLst>
                <a:path h="4067846" w="5746891">
                  <a:moveTo>
                    <a:pt x="0" y="0"/>
                  </a:moveTo>
                  <a:lnTo>
                    <a:pt x="5746891" y="0"/>
                  </a:lnTo>
                  <a:lnTo>
                    <a:pt x="5746891" y="4067846"/>
                  </a:lnTo>
                  <a:lnTo>
                    <a:pt x="0" y="4067846"/>
                  </a:lnTo>
                  <a:close/>
                </a:path>
              </a:pathLst>
            </a:custGeom>
            <a:blipFill>
              <a:blip r:embed="rId2"/>
              <a:stretch>
                <a:fillRect l="0" t="-2978" r="0" b="-2978"/>
              </a:stretch>
            </a:blipFill>
          </p:spPr>
        </p:sp>
      </p:grpSp>
      <p:grpSp>
        <p:nvGrpSpPr>
          <p:cNvPr name="Group 4" id="4"/>
          <p:cNvGrpSpPr/>
          <p:nvPr/>
        </p:nvGrpSpPr>
        <p:grpSpPr>
          <a:xfrm rot="0">
            <a:off x="-124808" y="6363464"/>
            <a:ext cx="5452741" cy="2334382"/>
            <a:chOff x="0" y="0"/>
            <a:chExt cx="1436113" cy="614817"/>
          </a:xfrm>
        </p:grpSpPr>
        <p:sp>
          <p:nvSpPr>
            <p:cNvPr name="Freeform 5" id="5"/>
            <p:cNvSpPr/>
            <p:nvPr/>
          </p:nvSpPr>
          <p:spPr>
            <a:xfrm flipH="false" flipV="false" rot="0">
              <a:off x="0" y="0"/>
              <a:ext cx="1436113" cy="614817"/>
            </a:xfrm>
            <a:custGeom>
              <a:avLst/>
              <a:gdLst/>
              <a:ahLst/>
              <a:cxnLst/>
              <a:rect r="r" b="b" t="t" l="l"/>
              <a:pathLst>
                <a:path h="614817" w="1436113">
                  <a:moveTo>
                    <a:pt x="0" y="0"/>
                  </a:moveTo>
                  <a:lnTo>
                    <a:pt x="1436113" y="0"/>
                  </a:lnTo>
                  <a:lnTo>
                    <a:pt x="1436113" y="614817"/>
                  </a:lnTo>
                  <a:lnTo>
                    <a:pt x="0" y="614817"/>
                  </a:lnTo>
                  <a:close/>
                </a:path>
              </a:pathLst>
            </a:custGeom>
            <a:solidFill>
              <a:srgbClr val="000000"/>
            </a:solidFill>
          </p:spPr>
        </p:sp>
        <p:sp>
          <p:nvSpPr>
            <p:cNvPr name="TextBox 6" id="6"/>
            <p:cNvSpPr txBox="true"/>
            <p:nvPr/>
          </p:nvSpPr>
          <p:spPr>
            <a:xfrm>
              <a:off x="0" y="-104775"/>
              <a:ext cx="1436113" cy="719592"/>
            </a:xfrm>
            <a:prstGeom prst="rect">
              <a:avLst/>
            </a:prstGeom>
          </p:spPr>
          <p:txBody>
            <a:bodyPr anchor="ctr" rtlCol="false" tIns="50800" lIns="50800" bIns="50800" rIns="50800"/>
            <a:lstStyle/>
            <a:p>
              <a:pPr algn="ctr">
                <a:lnSpc>
                  <a:spcPts val="7559"/>
                </a:lnSpc>
              </a:pPr>
              <a:r>
                <a:rPr lang="en-US" sz="5399" spc="-113">
                  <a:solidFill>
                    <a:srgbClr val="FFFFFF"/>
                  </a:solidFill>
                  <a:latin typeface="Noto Serif Bengali SemiCondensed"/>
                  <a:ea typeface="Noto Serif Bengali SemiCondensed"/>
                  <a:cs typeface="Noto Serif Bengali SemiCondensed"/>
                  <a:sym typeface="Noto Serif Bengali SemiCondensed"/>
                </a:rPr>
                <a:t>Akki Rotti </a:t>
              </a:r>
            </a:p>
            <a:p>
              <a:pPr algn="ctr">
                <a:lnSpc>
                  <a:spcPts val="7559"/>
                </a:lnSpc>
              </a:pPr>
            </a:p>
          </p:txBody>
        </p:sp>
      </p:grpSp>
      <p:grpSp>
        <p:nvGrpSpPr>
          <p:cNvPr name="Group 7" id="7"/>
          <p:cNvGrpSpPr/>
          <p:nvPr/>
        </p:nvGrpSpPr>
        <p:grpSpPr>
          <a:xfrm rot="0">
            <a:off x="6687964" y="6174695"/>
            <a:ext cx="4232452" cy="2334382"/>
            <a:chOff x="0" y="0"/>
            <a:chExt cx="1114720" cy="614817"/>
          </a:xfrm>
        </p:grpSpPr>
        <p:sp>
          <p:nvSpPr>
            <p:cNvPr name="Freeform 8" id="8"/>
            <p:cNvSpPr/>
            <p:nvPr/>
          </p:nvSpPr>
          <p:spPr>
            <a:xfrm flipH="false" flipV="false" rot="0">
              <a:off x="0" y="0"/>
              <a:ext cx="1114720" cy="614817"/>
            </a:xfrm>
            <a:custGeom>
              <a:avLst/>
              <a:gdLst/>
              <a:ahLst/>
              <a:cxnLst/>
              <a:rect r="r" b="b" t="t" l="l"/>
              <a:pathLst>
                <a:path h="614817" w="1114720">
                  <a:moveTo>
                    <a:pt x="0" y="0"/>
                  </a:moveTo>
                  <a:lnTo>
                    <a:pt x="1114720" y="0"/>
                  </a:lnTo>
                  <a:lnTo>
                    <a:pt x="1114720" y="614817"/>
                  </a:lnTo>
                  <a:lnTo>
                    <a:pt x="0" y="614817"/>
                  </a:lnTo>
                  <a:close/>
                </a:path>
              </a:pathLst>
            </a:custGeom>
            <a:solidFill>
              <a:srgbClr val="000000"/>
            </a:solidFill>
          </p:spPr>
        </p:sp>
        <p:sp>
          <p:nvSpPr>
            <p:cNvPr name="TextBox 9" id="9"/>
            <p:cNvSpPr txBox="true"/>
            <p:nvPr/>
          </p:nvSpPr>
          <p:spPr>
            <a:xfrm>
              <a:off x="0" y="-104775"/>
              <a:ext cx="1114720" cy="719592"/>
            </a:xfrm>
            <a:prstGeom prst="rect">
              <a:avLst/>
            </a:prstGeom>
          </p:spPr>
          <p:txBody>
            <a:bodyPr anchor="ctr" rtlCol="false" tIns="50800" lIns="50800" bIns="50800" rIns="50800"/>
            <a:lstStyle/>
            <a:p>
              <a:pPr algn="ctr">
                <a:lnSpc>
                  <a:spcPts val="7559"/>
                </a:lnSpc>
              </a:pPr>
            </a:p>
            <a:p>
              <a:pPr algn="ctr">
                <a:lnSpc>
                  <a:spcPts val="7559"/>
                </a:lnSpc>
              </a:pPr>
              <a:r>
                <a:rPr lang="en-US" sz="5399" spc="-113">
                  <a:solidFill>
                    <a:srgbClr val="FFFFFF"/>
                  </a:solidFill>
                  <a:latin typeface="Noto Serif Bengali SemiCondensed"/>
                  <a:ea typeface="Noto Serif Bengali SemiCondensed"/>
                  <a:cs typeface="Noto Serif Bengali SemiCondensed"/>
                  <a:sym typeface="Noto Serif Bengali SemiCondensed"/>
                </a:rPr>
                <a:t>Unde Kadubu </a:t>
              </a:r>
            </a:p>
          </p:txBody>
        </p:sp>
      </p:grpSp>
      <p:grpSp>
        <p:nvGrpSpPr>
          <p:cNvPr name="Group 10" id="10"/>
          <p:cNvGrpSpPr/>
          <p:nvPr/>
        </p:nvGrpSpPr>
        <p:grpSpPr>
          <a:xfrm rot="0">
            <a:off x="6389832" y="2903469"/>
            <a:ext cx="5560979" cy="4224023"/>
            <a:chOff x="0" y="0"/>
            <a:chExt cx="4941452" cy="3753441"/>
          </a:xfrm>
        </p:grpSpPr>
        <p:sp>
          <p:nvSpPr>
            <p:cNvPr name="Freeform 11" id="11"/>
            <p:cNvSpPr/>
            <p:nvPr/>
          </p:nvSpPr>
          <p:spPr>
            <a:xfrm flipH="false" flipV="false" rot="0">
              <a:off x="0" y="0"/>
              <a:ext cx="4941452" cy="3753441"/>
            </a:xfrm>
            <a:custGeom>
              <a:avLst/>
              <a:gdLst/>
              <a:ahLst/>
              <a:cxnLst/>
              <a:rect r="r" b="b" t="t" l="l"/>
              <a:pathLst>
                <a:path h="3753441" w="4941452">
                  <a:moveTo>
                    <a:pt x="0" y="0"/>
                  </a:moveTo>
                  <a:lnTo>
                    <a:pt x="4941452" y="0"/>
                  </a:lnTo>
                  <a:lnTo>
                    <a:pt x="4941452" y="3753441"/>
                  </a:lnTo>
                  <a:lnTo>
                    <a:pt x="0" y="3753441"/>
                  </a:lnTo>
                  <a:close/>
                </a:path>
              </a:pathLst>
            </a:custGeom>
            <a:blipFill>
              <a:blip r:embed="rId3"/>
              <a:stretch>
                <a:fillRect l="-570" t="0" r="-570" b="0"/>
              </a:stretch>
            </a:blipFill>
          </p:spPr>
        </p:sp>
      </p:grpSp>
      <p:grpSp>
        <p:nvGrpSpPr>
          <p:cNvPr name="Group 12" id="12"/>
          <p:cNvGrpSpPr/>
          <p:nvPr/>
        </p:nvGrpSpPr>
        <p:grpSpPr>
          <a:xfrm rot="0">
            <a:off x="12350860" y="7127492"/>
            <a:ext cx="4308092" cy="2334382"/>
            <a:chOff x="0" y="0"/>
            <a:chExt cx="1134642" cy="614817"/>
          </a:xfrm>
        </p:grpSpPr>
        <p:sp>
          <p:nvSpPr>
            <p:cNvPr name="Freeform 13" id="13"/>
            <p:cNvSpPr/>
            <p:nvPr/>
          </p:nvSpPr>
          <p:spPr>
            <a:xfrm flipH="false" flipV="false" rot="0">
              <a:off x="0" y="0"/>
              <a:ext cx="1134641" cy="614817"/>
            </a:xfrm>
            <a:custGeom>
              <a:avLst/>
              <a:gdLst/>
              <a:ahLst/>
              <a:cxnLst/>
              <a:rect r="r" b="b" t="t" l="l"/>
              <a:pathLst>
                <a:path h="614817" w="1134641">
                  <a:moveTo>
                    <a:pt x="0" y="0"/>
                  </a:moveTo>
                  <a:lnTo>
                    <a:pt x="1134641" y="0"/>
                  </a:lnTo>
                  <a:lnTo>
                    <a:pt x="1134641" y="614817"/>
                  </a:lnTo>
                  <a:lnTo>
                    <a:pt x="0" y="614817"/>
                  </a:lnTo>
                  <a:close/>
                </a:path>
              </a:pathLst>
            </a:custGeom>
            <a:solidFill>
              <a:srgbClr val="000000"/>
            </a:solidFill>
          </p:spPr>
        </p:sp>
        <p:sp>
          <p:nvSpPr>
            <p:cNvPr name="TextBox 14" id="14"/>
            <p:cNvSpPr txBox="true"/>
            <p:nvPr/>
          </p:nvSpPr>
          <p:spPr>
            <a:xfrm>
              <a:off x="0" y="-104775"/>
              <a:ext cx="1134642" cy="719592"/>
            </a:xfrm>
            <a:prstGeom prst="rect">
              <a:avLst/>
            </a:prstGeom>
          </p:spPr>
          <p:txBody>
            <a:bodyPr anchor="ctr" rtlCol="false" tIns="50800" lIns="50800" bIns="50800" rIns="50800"/>
            <a:lstStyle/>
            <a:p>
              <a:pPr algn="ctr">
                <a:lnSpc>
                  <a:spcPts val="7559"/>
                </a:lnSpc>
              </a:pPr>
            </a:p>
            <a:p>
              <a:pPr algn="ctr">
                <a:lnSpc>
                  <a:spcPts val="7559"/>
                </a:lnSpc>
              </a:pPr>
              <a:r>
                <a:rPr lang="en-US" sz="5399" spc="-113">
                  <a:solidFill>
                    <a:srgbClr val="FFFFFF"/>
                  </a:solidFill>
                  <a:latin typeface="Noto Serif Bengali SemiCondensed"/>
                  <a:ea typeface="Noto Serif Bengali SemiCondensed"/>
                  <a:cs typeface="Noto Serif Bengali SemiCondensed"/>
                  <a:sym typeface="Noto Serif Bengali SemiCondensed"/>
                </a:rPr>
                <a:t>coconut burfi</a:t>
              </a:r>
            </a:p>
          </p:txBody>
        </p:sp>
      </p:grpSp>
      <p:sp>
        <p:nvSpPr>
          <p:cNvPr name="Freeform 15" id="15"/>
          <p:cNvSpPr/>
          <p:nvPr/>
        </p:nvSpPr>
        <p:spPr>
          <a:xfrm flipH="false" flipV="false" rot="0">
            <a:off x="12350860" y="4060460"/>
            <a:ext cx="4579602" cy="4004676"/>
          </a:xfrm>
          <a:custGeom>
            <a:avLst/>
            <a:gdLst/>
            <a:ahLst/>
            <a:cxnLst/>
            <a:rect r="r" b="b" t="t" l="l"/>
            <a:pathLst>
              <a:path h="4004676" w="4579602">
                <a:moveTo>
                  <a:pt x="0" y="0"/>
                </a:moveTo>
                <a:lnTo>
                  <a:pt x="4579602" y="0"/>
                </a:lnTo>
                <a:lnTo>
                  <a:pt x="4579602" y="4004676"/>
                </a:lnTo>
                <a:lnTo>
                  <a:pt x="0" y="4004676"/>
                </a:lnTo>
                <a:lnTo>
                  <a:pt x="0" y="0"/>
                </a:lnTo>
                <a:close/>
              </a:path>
            </a:pathLst>
          </a:custGeom>
          <a:blipFill>
            <a:blip r:embed="rId4"/>
            <a:stretch>
              <a:fillRect l="0" t="-37927" r="0" b="-11641"/>
            </a:stretch>
          </a:blipFill>
        </p:spPr>
      </p:sp>
      <p:grpSp>
        <p:nvGrpSpPr>
          <p:cNvPr name="Group 16" id="16"/>
          <p:cNvGrpSpPr/>
          <p:nvPr/>
        </p:nvGrpSpPr>
        <p:grpSpPr>
          <a:xfrm rot="0">
            <a:off x="-332817" y="-505785"/>
            <a:ext cx="18834636" cy="2334382"/>
            <a:chOff x="0" y="0"/>
            <a:chExt cx="4960563" cy="614817"/>
          </a:xfrm>
        </p:grpSpPr>
        <p:sp>
          <p:nvSpPr>
            <p:cNvPr name="Freeform 17" id="17"/>
            <p:cNvSpPr/>
            <p:nvPr/>
          </p:nvSpPr>
          <p:spPr>
            <a:xfrm flipH="false" flipV="false" rot="0">
              <a:off x="0" y="0"/>
              <a:ext cx="4960563" cy="614817"/>
            </a:xfrm>
            <a:custGeom>
              <a:avLst/>
              <a:gdLst/>
              <a:ahLst/>
              <a:cxnLst/>
              <a:rect r="r" b="b" t="t" l="l"/>
              <a:pathLst>
                <a:path h="614817" w="4960563">
                  <a:moveTo>
                    <a:pt x="0" y="0"/>
                  </a:moveTo>
                  <a:lnTo>
                    <a:pt x="4960563" y="0"/>
                  </a:lnTo>
                  <a:lnTo>
                    <a:pt x="4960563" y="614817"/>
                  </a:lnTo>
                  <a:lnTo>
                    <a:pt x="0" y="614817"/>
                  </a:lnTo>
                  <a:close/>
                </a:path>
              </a:pathLst>
            </a:custGeom>
            <a:solidFill>
              <a:srgbClr val="FFDE59"/>
            </a:solidFill>
          </p:spPr>
        </p:sp>
        <p:sp>
          <p:nvSpPr>
            <p:cNvPr name="TextBox 18" id="18"/>
            <p:cNvSpPr txBox="true"/>
            <p:nvPr/>
          </p:nvSpPr>
          <p:spPr>
            <a:xfrm>
              <a:off x="0" y="-104775"/>
              <a:ext cx="4960563" cy="719592"/>
            </a:xfrm>
            <a:prstGeom prst="rect">
              <a:avLst/>
            </a:prstGeom>
          </p:spPr>
          <p:txBody>
            <a:bodyPr anchor="ctr" rtlCol="false" tIns="50800" lIns="50800" bIns="50800" rIns="50800"/>
            <a:lstStyle/>
            <a:p>
              <a:pPr algn="ctr">
                <a:lnSpc>
                  <a:spcPts val="7559"/>
                </a:lnSpc>
              </a:pPr>
            </a:p>
            <a:p>
              <a:pPr algn="ctr">
                <a:lnSpc>
                  <a:spcPts val="7559"/>
                </a:lnSpc>
              </a:pPr>
            </a:p>
          </p:txBody>
        </p:sp>
      </p:grpSp>
      <p:sp>
        <p:nvSpPr>
          <p:cNvPr name="TextBox 19" id="19"/>
          <p:cNvSpPr txBox="true"/>
          <p:nvPr/>
        </p:nvSpPr>
        <p:spPr>
          <a:xfrm rot="0">
            <a:off x="537041" y="507047"/>
            <a:ext cx="10937136" cy="1496238"/>
          </a:xfrm>
          <a:prstGeom prst="rect">
            <a:avLst/>
          </a:prstGeom>
        </p:spPr>
        <p:txBody>
          <a:bodyPr anchor="t" rtlCol="false" tIns="0" lIns="0" bIns="0" rIns="0">
            <a:spAutoFit/>
          </a:bodyPr>
          <a:lstStyle/>
          <a:p>
            <a:pPr algn="just">
              <a:lnSpc>
                <a:spcPts val="11639"/>
              </a:lnSpc>
            </a:pPr>
            <a:r>
              <a:rPr lang="en-US" b="true" sz="10392" spc="-218">
                <a:solidFill>
                  <a:srgbClr val="1A1C2D"/>
                </a:solidFill>
                <a:latin typeface="Noto Serif Bengali SemiCondensed Semi-Bold"/>
                <a:ea typeface="Noto Serif Bengali SemiCondensed Semi-Bold"/>
                <a:cs typeface="Noto Serif Bengali SemiCondensed Semi-Bold"/>
                <a:sym typeface="Noto Serif Bengali SemiCondensed Semi-Bold"/>
              </a:rPr>
              <a:t>malnad dish</a:t>
            </a:r>
          </a:p>
        </p:txBody>
      </p:sp>
    </p:spTree>
  </p:cSld>
  <p:clrMapOvr>
    <a:masterClrMapping/>
  </p:clrMapOvr>
  <p:transition spd="fast">
    <p:circl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42849" y="1028700"/>
            <a:ext cx="18566811" cy="8229600"/>
            <a:chOff x="0" y="0"/>
            <a:chExt cx="7247895" cy="3212575"/>
          </a:xfrm>
        </p:grpSpPr>
        <p:sp>
          <p:nvSpPr>
            <p:cNvPr name="Freeform 3" id="3"/>
            <p:cNvSpPr/>
            <p:nvPr/>
          </p:nvSpPr>
          <p:spPr>
            <a:xfrm flipH="false" flipV="false" rot="0">
              <a:off x="0" y="0"/>
              <a:ext cx="7247895" cy="3212575"/>
            </a:xfrm>
            <a:custGeom>
              <a:avLst/>
              <a:gdLst/>
              <a:ahLst/>
              <a:cxnLst/>
              <a:rect r="r" b="b" t="t" l="l"/>
              <a:pathLst>
                <a:path h="3212575" w="7247895">
                  <a:moveTo>
                    <a:pt x="0" y="0"/>
                  </a:moveTo>
                  <a:lnTo>
                    <a:pt x="7247895" y="0"/>
                  </a:lnTo>
                  <a:lnTo>
                    <a:pt x="7247895" y="3212575"/>
                  </a:lnTo>
                  <a:lnTo>
                    <a:pt x="0" y="3212575"/>
                  </a:lnTo>
                  <a:close/>
                </a:path>
              </a:pathLst>
            </a:custGeom>
            <a:blipFill>
              <a:blip r:embed="rId2"/>
              <a:stretch>
                <a:fillRect l="0" t="-25156" r="0" b="-25156"/>
              </a:stretch>
            </a:blipFill>
          </p:spPr>
        </p:sp>
      </p:grpSp>
      <p:sp>
        <p:nvSpPr>
          <p:cNvPr name="TextBox 4" id="4"/>
          <p:cNvSpPr txBox="true"/>
          <p:nvPr/>
        </p:nvSpPr>
        <p:spPr>
          <a:xfrm rot="0">
            <a:off x="4535643" y="3159397"/>
            <a:ext cx="9530444" cy="3843141"/>
          </a:xfrm>
          <a:prstGeom prst="rect">
            <a:avLst/>
          </a:prstGeom>
        </p:spPr>
        <p:txBody>
          <a:bodyPr anchor="t" rtlCol="false" tIns="0" lIns="0" bIns="0" rIns="0">
            <a:spAutoFit/>
          </a:bodyPr>
          <a:lstStyle/>
          <a:p>
            <a:pPr algn="r">
              <a:lnSpc>
                <a:spcPts val="31429"/>
              </a:lnSpc>
            </a:pPr>
            <a:r>
              <a:rPr lang="en-US" sz="22449" spc="-471">
                <a:solidFill>
                  <a:srgbClr val="EBC118"/>
                </a:solidFill>
                <a:latin typeface="Noto Serif Bengali SemiCondensed"/>
                <a:ea typeface="Noto Serif Bengali SemiCondensed"/>
                <a:cs typeface="Noto Serif Bengali SemiCondensed"/>
                <a:sym typeface="Noto Serif Bengali SemiCondensed"/>
              </a:rPr>
              <a:t>hanks</a:t>
            </a:r>
          </a:p>
        </p:txBody>
      </p:sp>
      <p:sp>
        <p:nvSpPr>
          <p:cNvPr name="TextBox 5" id="5"/>
          <p:cNvSpPr txBox="true"/>
          <p:nvPr/>
        </p:nvSpPr>
        <p:spPr>
          <a:xfrm rot="0">
            <a:off x="3322862" y="1814853"/>
            <a:ext cx="7699499" cy="5997492"/>
          </a:xfrm>
          <a:prstGeom prst="rect">
            <a:avLst/>
          </a:prstGeom>
        </p:spPr>
        <p:txBody>
          <a:bodyPr anchor="t" rtlCol="false" tIns="0" lIns="0" bIns="0" rIns="0">
            <a:spAutoFit/>
          </a:bodyPr>
          <a:lstStyle/>
          <a:p>
            <a:pPr algn="l">
              <a:lnSpc>
                <a:spcPts val="49004"/>
              </a:lnSpc>
            </a:pPr>
            <a:r>
              <a:rPr lang="en-US" sz="35003" spc="-735">
                <a:solidFill>
                  <a:srgbClr val="EBC118"/>
                </a:solidFill>
                <a:latin typeface="Sloop Script Pro"/>
                <a:ea typeface="Sloop Script Pro"/>
                <a:cs typeface="Sloop Script Pro"/>
                <a:sym typeface="Sloop Script Pro"/>
              </a:rPr>
              <a:t>T</a:t>
            </a:r>
          </a:p>
        </p:txBody>
      </p:sp>
      <p:sp>
        <p:nvSpPr>
          <p:cNvPr name="AutoShape 6" id="6"/>
          <p:cNvSpPr/>
          <p:nvPr/>
        </p:nvSpPr>
        <p:spPr>
          <a:xfrm>
            <a:off x="4786319" y="6591226"/>
            <a:ext cx="8517598" cy="0"/>
          </a:xfrm>
          <a:prstGeom prst="line">
            <a:avLst/>
          </a:prstGeom>
          <a:ln cap="flat" w="19050">
            <a:solidFill>
              <a:srgbClr val="EBC118"/>
            </a:solidFill>
            <a:prstDash val="solid"/>
            <a:headEnd type="none" len="sm" w="sm"/>
            <a:tailEnd type="none" len="sm" w="sm"/>
          </a:ln>
        </p:spPr>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DAHVde5Bwhw</dc:identifier>
  <dcterms:modified xsi:type="dcterms:W3CDTF">2011-08-01T06:04:30Z</dcterms:modified>
  <cp:revision>1</cp:revision>
  <dc:title>Nikhil S G</dc:title>
</cp:coreProperties>
</file>